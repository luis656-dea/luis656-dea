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let's jack in. We're here to talk about the metaverse workplace, not as some futuristic fantasy, but as a present-day battleground. This isn't just about new tech; it's about the old fight for rights in a new, digital arena. We'll dissect the raw code of labor issues, the relentless data extraction, and the chilling privacy implications. Get ready to see how the virtual world is reshaping our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is this metaverse workplace we're talking about? It's a digital frontier where work, communication, and collaboration happen in immersive virtual spaces. Companies are already leveraging these platforms for everything from global meetings to intensive training simulations. But here's the catch: this technological leap is creating a regulatory vacuum, where corporate policy often becomes the de facto law. This sets the stage for the core problem we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stark: technology is outpacing law. We're building these metaverse workspaces at breakneck speed, far faster than our legal frameworks can adapt. This creates a massive regulatory gap, leaving us with gray areas where existing labor and privacy laws simply don't apply. Without clear legal guidelines, accountability becomes a ghost in the machine. This regulatory void directly impacts the most vulnerable: the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regulatory vacuum we just discussed leads directly to significant labor issues, creating precarity in the virtual realm. We're seeing an exacerbation of gig work instability, where virtual environments amplify exploitation and strip away traditional benefits. Think about content moderation: a hidden, outsourced workforce doing the metaverse's dirty work under brutal conditions. And unionization? Collective bargaining faces entirely new hurdles when physical proximity is gone. But the exploitation doesn't stop there; it extends to our very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labor precarity, we face the new frontier of monitoring: relentless data extraction. VR systems are biometric goldmines, logging everything from pupil dilation to micro-expressions. Your unique movement patterns, your kinematic fingerprint, can identify you with chilling accuracy. This isn't just about what you type; it's about involuntary bio-feedback, revealing your emotional state, your focus, even early signs of medical conditions. This creates an 'always-on' panopticon, a level of surveillance impossible in the physical world. And this constant oversight raises profound privacy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let's talk about the real cost of this digital frontier: your privacy. We've seen how data gets extracted; now, who owns that digital ghost of you? When VR is a job requirement, consent becomes a legal fiction; you can't truly opt out without risking your livelihood. That biometric data, collected for 'productivity,' could easily be sold to insurance companies, profiling you based on involuntary physiological markers. And who owns that digital twin of your body? Current EULAs often grant platforms perpetual rights to your behavioral data and avatar likeness. This isn't just about hiding; it's about controlling your own narrative. So, how does this play out in the real world? Let's look at Meta.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those privacy concerns, Meta offers a stark case study in the volatility and ethical quagmires of virtual work. In January 2026, Meta's decision to decommission its VR workplace app, amidst Reality Labs layoffs, left thousands of virtual workers in a state of 'digital homelessness' with no legal recourse. But there's a glimmer of hope: the Kenyan High Court ruled that Meta can't hide behind third-party contractors to block content moderators from unionizing. This establishes a critical precedent: 'virtual' labor is still 'physical' labor, and the psychological toll demands the same protections. This case highlights the urgent need for global labor shifts. Now, let's zoom out and consider the broader societal impact of these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happens when these individual privacy breaches and corporate power plays scale up? The normalization of constant surveillance in the workplace will inevitably bleed into broader societal expectations, eroding personal freedom. Without urgent regulation, the metaverse could deepen existing inequalities, creating a new class of 'virtual laborers' with zero protections. This isn't just about a new way to work; it's about fundamentally redefining the relationship between employer and employee. The societal risk here is critical: we face a threat to personal freedom. But researching these complex issues presents its own set of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brings us to the core problem for anyone trying to understand this space: the sheer difficulty of researching the metaverse. First, there's the technological flux; policies and tech evolve so quickly that long-term data consistency is almost impossible. Then, much of the labor maintaining these platforms is outsourced or hidden, making firsthand experience and verification incredibly difficult. Finally, explaining the ethical nuances of something like biometric surveillance to a general audience remains a major hurdle. This complexity demands a new approach to understanding the future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navigated the digital labyrinth, and here's the hard truth: the metaverse workplace is a double-edged sword. It promises innovation, but it delivers a high cost to privacy and labor rights if we let it run wild. Technology is moving too fast, leaving our legal frameworks in the dust. This creates a dangerous paradox: immersive environments offer incredible collaboration tools, yet they also enable total biometric and behavioral monitoring. We need to act now. Updated labor laws and biometric privacy regulations aren't just suggestions; they're critical to prevent systemic exploitation. Protecting worker rights isn't just a moral imperative; it's essential for the future of work itself. Now, let's look at the intel that got us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just theory; it's built on solid intel. These are the key sources that informed our deep dive into the metaverse's ethical quagmire. Each one offers a critical piece of the puzzle, from Meta's volatile VR ventures to the legal battles defining virtual labor rights. We've pulled from the front lines, from the Future of Privacy Forum to the courts in Kenya. This isn't just academic; it's real-world data shaping our understanding of this evolving landscape. And with that, we open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intel. We've laid out the risks, the challenges, and the urgent need for governance in this new digital frontier. Now, the conversation shifts to you. Your questions, your insights, your challenges to the data. Let's discuss how we navigate this complex terrain together. Don't hesitate to reach out if you want to continue the dialogue.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64356" y="1228055"/>
            <a:ext cx="8015288" cy="2687362"/>
          </a:xfrm>
          <a:prstGeom prst="rect">
            <a:avLst/>
          </a:prstGeom>
          <a:solidFill>
            <a:srgbClr val="0A0A0A">
              <a:alpha val="85000"/>
            </a:srgbClr>
          </a:solidFill>
          <a:ln w="9144">
            <a:solidFill>
              <a:srgbClr val="00FF41"/>
            </a:solidFill>
            <a:prstDash val="solid"/>
          </a:ln>
        </p:spPr>
      </p:sp>
      <p:sp>
        <p:nvSpPr>
          <p:cNvPr id="5" name="Shape 1"/>
          <p:cNvSpPr/>
          <p:nvPr/>
        </p:nvSpPr>
        <p:spPr>
          <a:xfrm>
            <a:off x="28575" y="28575"/>
            <a:ext cx="9158288" cy="160734"/>
          </a:xfrm>
          <a:prstGeom prst="rect">
            <a:avLst/>
          </a:prstGeom>
          <a:solidFill>
            <a:srgbClr val="00FF41"/>
          </a:solidFill>
          <a:ln/>
        </p:spPr>
      </p:sp>
      <p:sp>
        <p:nvSpPr>
          <p:cNvPr id="6" name="Text 2"/>
          <p:cNvSpPr/>
          <p:nvPr/>
        </p:nvSpPr>
        <p:spPr>
          <a:xfrm>
            <a:off x="28575" y="28575"/>
            <a:ext cx="9158288" cy="160734"/>
          </a:xfrm>
          <a:prstGeom prst="rect">
            <a:avLst/>
          </a:prstGeom>
          <a:noFill/>
          <a:ln/>
        </p:spPr>
        <p:txBody>
          <a:bodyPr wrap="square" lIns="85090" tIns="34036" rIns="0" bIns="0" rtlCol="0" anchor="t">
            <a:spAutoFit/>
          </a:bodyPr>
          <a:lstStyle/>
          <a:p>
            <a:pPr algn="l" indent="0" marL="0">
              <a:buNone/>
            </a:pPr>
            <a:r>
              <a:rPr lang="en-US" sz="700" b="1" dirty="0">
                <a:solidFill>
                  <a:srgbClr val="000000"/>
                </a:solidFill>
                <a:latin typeface="Roboto Mono Bold" pitchFamily="34" charset="0"/>
                <a:ea typeface="Roboto Mono Bold" pitchFamily="34" charset="-122"/>
                <a:cs typeface="Roboto Mono Bold" pitchFamily="34" charset="-120"/>
              </a:rPr>
              <a:t>TERMINAL_v4.2 // NYC_NODE_01</a:t>
            </a:r>
            <a:endParaRPr lang="en-US" sz="700" dirty="0"/>
          </a:p>
        </p:txBody>
      </p:sp>
      <p:sp>
        <p:nvSpPr>
          <p:cNvPr id="7" name="Text 3"/>
          <p:cNvSpPr/>
          <p:nvPr/>
        </p:nvSpPr>
        <p:spPr>
          <a:xfrm>
            <a:off x="1000125" y="1520949"/>
            <a:ext cx="7143750" cy="880077"/>
          </a:xfrm>
          <a:prstGeom prst="rect">
            <a:avLst/>
          </a:prstGeom>
          <a:noFill/>
          <a:ln/>
        </p:spPr>
        <p:txBody>
          <a:bodyPr wrap="square" lIns="0" tIns="0" rIns="0" bIns="0" rtlCol="0" anchor="t">
            <a:spAutoFit/>
          </a:bodyPr>
          <a:lstStyle/>
          <a:p>
            <a:pPr algn="l" indent="0" marL="0">
              <a:lnSpc>
                <a:spcPct val="88000"/>
              </a:lnSpc>
              <a:buNone/>
            </a:pPr>
            <a:r>
              <a:rPr lang="en-US" sz="2850" b="1" dirty="0">
                <a:solidFill>
                  <a:srgbClr val="00FF41"/>
                </a:solidFill>
                <a:latin typeface="Roboto Mono Bold" pitchFamily="34" charset="0"/>
                <a:ea typeface="Roboto Mono Bold" pitchFamily="34" charset="-122"/>
                <a:cs typeface="Roboto Mono Bold" pitchFamily="34" charset="-120"/>
              </a:rPr>
              <a:t>THE ETHICS OF THE METAVERSE WORKPLACE</a:t>
            </a:r>
            <a:endParaRPr lang="en-US" sz="2850" dirty="0"/>
          </a:p>
        </p:txBody>
      </p:sp>
      <p:sp>
        <p:nvSpPr>
          <p:cNvPr id="8" name="Text 4"/>
          <p:cNvSpPr/>
          <p:nvPr/>
        </p:nvSpPr>
        <p:spPr>
          <a:xfrm>
            <a:off x="1000125" y="2543901"/>
            <a:ext cx="7143750" cy="240013"/>
          </a:xfrm>
          <a:prstGeom prst="rect">
            <a:avLst/>
          </a:prstGeom>
          <a:noFill/>
          <a:ln/>
        </p:spPr>
        <p:txBody>
          <a:bodyPr wrap="none" lIns="0" tIns="0" rIns="0" bIns="0" rtlCol="0" anchor="t">
            <a:spAutoFit/>
          </a:bodyPr>
          <a:lstStyle/>
          <a:p>
            <a:pPr algn="l" indent="0" marL="0">
              <a:lnSpc>
                <a:spcPct val="112000"/>
              </a:lnSpc>
              <a:buNone/>
            </a:pPr>
            <a:r>
              <a:rPr lang="en-US" sz="1250" dirty="0">
                <a:solidFill>
                  <a:srgbClr val="F4F4F5"/>
                </a:solidFill>
                <a:latin typeface="Inter" pitchFamily="34" charset="0"/>
                <a:ea typeface="Inter" pitchFamily="34" charset="-122"/>
                <a:cs typeface="Inter" pitchFamily="34" charset="-120"/>
              </a:rPr>
              <a:t>Examining Labor Issues, Data Extraction, and Privacy in Virtual Corporate Environments</a:t>
            </a:r>
            <a:endParaRPr lang="en-US" sz="1250" dirty="0"/>
          </a:p>
        </p:txBody>
      </p:sp>
      <p:sp>
        <p:nvSpPr>
          <p:cNvPr id="9" name="Text 5"/>
          <p:cNvSpPr/>
          <p:nvPr/>
        </p:nvSpPr>
        <p:spPr>
          <a:xfrm>
            <a:off x="1000125" y="3183964"/>
            <a:ext cx="7143750" cy="205718"/>
          </a:xfrm>
          <a:prstGeom prst="rect">
            <a:avLst/>
          </a:prstGeom>
          <a:noFill/>
          <a:ln/>
        </p:spPr>
        <p:txBody>
          <a:bodyPr wrap="none" lIns="0" tIns="0" rIns="0" bIns="0" rtlCol="0" anchor="t">
            <a:spAutoFit/>
          </a:bodyPr>
          <a:lstStyle/>
          <a:p>
            <a:pPr algn="l" indent="0" marL="0">
              <a:lnSpc>
                <a:spcPct val="128000"/>
              </a:lnSpc>
              <a:buNone/>
            </a:pPr>
            <a:r>
              <a:rPr lang="en-US" sz="900" b="1" dirty="0">
                <a:solidFill>
                  <a:srgbClr val="F4F4F5"/>
                </a:solidFill>
                <a:latin typeface="Roboto Mono Bold" pitchFamily="34" charset="0"/>
                <a:ea typeface="Roboto Mono Bold" pitchFamily="34" charset="-122"/>
                <a:cs typeface="Roboto Mono Bold" pitchFamily="34" charset="-120"/>
              </a:rPr>
              <a:t>USER:</a:t>
            </a:r>
            <a:r>
              <a:rPr lang="en-US" sz="950" dirty="0">
                <a:solidFill>
                  <a:srgbClr val="00FF41"/>
                </a:solidFill>
                <a:latin typeface="Roboto Mono Bold" pitchFamily="34" charset="0"/>
                <a:ea typeface="Roboto Mono Bold" pitchFamily="34" charset="-122"/>
                <a:cs typeface="Roboto Mono Bold" pitchFamily="34" charset="-120"/>
              </a:rPr>
              <a:t> Luis Couttolenc</a:t>
            </a:r>
            <a:endParaRPr lang="en-US" sz="900" dirty="0"/>
          </a:p>
        </p:txBody>
      </p:sp>
      <p:sp>
        <p:nvSpPr>
          <p:cNvPr id="10" name="Text 6"/>
          <p:cNvSpPr/>
          <p:nvPr/>
        </p:nvSpPr>
        <p:spPr>
          <a:xfrm>
            <a:off x="1000125" y="3425400"/>
            <a:ext cx="7143750" cy="205718"/>
          </a:xfrm>
          <a:prstGeom prst="rect">
            <a:avLst/>
          </a:prstGeom>
          <a:noFill/>
          <a:ln/>
        </p:spPr>
        <p:txBody>
          <a:bodyPr wrap="none" lIns="0" tIns="0" rIns="0" bIns="0" rtlCol="0" anchor="t">
            <a:spAutoFit/>
          </a:bodyPr>
          <a:lstStyle/>
          <a:p>
            <a:pPr algn="l" indent="0" marL="0">
              <a:lnSpc>
                <a:spcPct val="128000"/>
              </a:lnSpc>
              <a:buNone/>
            </a:pPr>
            <a:r>
              <a:rPr lang="en-US" sz="900" b="1" dirty="0">
                <a:solidFill>
                  <a:srgbClr val="F4F4F5"/>
                </a:solidFill>
                <a:latin typeface="Roboto Mono Bold" pitchFamily="34" charset="0"/>
                <a:ea typeface="Roboto Mono Bold" pitchFamily="34" charset="-122"/>
                <a:cs typeface="Roboto Mono Bold" pitchFamily="34" charset="-120"/>
              </a:rPr>
              <a:t>ORG:</a:t>
            </a:r>
            <a:r>
              <a:rPr lang="en-US" sz="950" dirty="0">
                <a:solidFill>
                  <a:srgbClr val="00FF41"/>
                </a:solidFill>
                <a:latin typeface="Roboto Mono Bold" pitchFamily="34" charset="0"/>
                <a:ea typeface="Roboto Mono Bold" pitchFamily="34" charset="-122"/>
                <a:cs typeface="Roboto Mono Bold" pitchFamily="34" charset="-120"/>
              </a:rPr>
              <a:t> University of Hartford | UIST</a:t>
            </a:r>
            <a:endParaRPr lang="en-US" sz="900" dirty="0"/>
          </a:p>
        </p:txBody>
      </p:sp>
      <p:sp>
        <p:nvSpPr>
          <p:cNvPr id="11" name="Text 7"/>
          <p:cNvSpPr/>
          <p:nvPr/>
        </p:nvSpPr>
        <p:spPr>
          <a:xfrm>
            <a:off x="1000125" y="3666837"/>
            <a:ext cx="7143750" cy="205718"/>
          </a:xfrm>
          <a:prstGeom prst="rect">
            <a:avLst/>
          </a:prstGeom>
          <a:noFill/>
          <a:ln/>
        </p:spPr>
        <p:txBody>
          <a:bodyPr wrap="none" lIns="0" tIns="0" rIns="0" bIns="0" rtlCol="0" anchor="t">
            <a:spAutoFit/>
          </a:bodyPr>
          <a:lstStyle/>
          <a:p>
            <a:pPr algn="l" indent="0" marL="0">
              <a:lnSpc>
                <a:spcPct val="128000"/>
              </a:lnSpc>
              <a:buNone/>
            </a:pPr>
            <a:r>
              <a:rPr lang="en-US" sz="900" b="1" dirty="0">
                <a:solidFill>
                  <a:srgbClr val="F4F4F5"/>
                </a:solidFill>
                <a:latin typeface="Roboto Mono Bold" pitchFamily="34" charset="0"/>
                <a:ea typeface="Roboto Mono Bold" pitchFamily="34" charset="-122"/>
                <a:cs typeface="Roboto Mono Bold" pitchFamily="34" charset="-120"/>
              </a:rPr>
              <a:t>TIMESTAMP:</a:t>
            </a:r>
            <a:r>
              <a:rPr lang="en-US" sz="950" dirty="0">
                <a:solidFill>
                  <a:srgbClr val="00FF41"/>
                </a:solidFill>
                <a:latin typeface="Roboto Mono Bold" pitchFamily="34" charset="0"/>
                <a:ea typeface="Roboto Mono Bold" pitchFamily="34" charset="-122"/>
                <a:cs typeface="Roboto Mono Bold" pitchFamily="34" charset="-120"/>
              </a:rPr>
              <a:t> 2026.04.27_09:00:00_EST</a:t>
            </a:r>
            <a:endParaRPr lang="en-US" sz="900" dirty="0"/>
          </a:p>
        </p:txBody>
      </p:sp>
      <p:sp>
        <p:nvSpPr>
          <p:cNvPr id="12" name="Text 8"/>
          <p:cNvSpPr/>
          <p:nvPr/>
        </p:nvSpPr>
        <p:spPr>
          <a:xfrm>
            <a:off x="314325" y="4491633"/>
            <a:ext cx="1605558" cy="337542"/>
          </a:xfrm>
          <a:prstGeom prst="rect">
            <a:avLst/>
          </a:prstGeom>
          <a:noFill/>
          <a:ln/>
        </p:spPr>
        <p:txBody>
          <a:bodyPr wrap="square" lIns="0" tIns="0" rIns="0" bIns="0" rtlCol="0" anchor="t">
            <a:spAutoFit/>
          </a:bodyPr>
          <a:lstStyle/>
          <a:p>
            <a:pPr algn="l" indent="0" marL="0">
              <a:buNone/>
            </a:pPr>
            <a:r>
              <a:rPr lang="en-US" sz="600" dirty="0">
                <a:solidFill>
                  <a:srgbClr val="00FF41">
                    <a:alpha val="60000"/>
                  </a:srgbClr>
                </a:solidFill>
                <a:latin typeface="Roboto Mono Bold" pitchFamily="34" charset="0"/>
                <a:ea typeface="Roboto Mono Bold" pitchFamily="34" charset="-122"/>
                <a:cs typeface="Roboto Mono Bold" pitchFamily="34" charset="-120"/>
              </a:rPr>
              <a:t>&gt;&gt; ACCESS_GRANTED...</a:t>
            </a:r>
            <a:r>
              <a:rPr lang="en-US" sz="600" dirty="0">
                <a:solidFill>
                  <a:srgbClr val="00FF41">
                    <a:alpha val="60000"/>
                  </a:srgbClr>
                </a:solidFill>
                <a:latin typeface="Roboto Mono Bold" pitchFamily="34" charset="0"/>
                <a:ea typeface="Roboto Mono Bold" pitchFamily="34" charset="-122"/>
                <a:cs typeface="Roboto Mono Bold" pitchFamily="34" charset="-120"/>
              </a:rPr>
              <a:t>
</a:t>
            </a:r>
            <a:r>
              <a:rPr lang="en-US" sz="600" dirty="0">
                <a:solidFill>
                  <a:srgbClr val="00FF41">
                    <a:alpha val="60000"/>
                  </a:srgbClr>
                </a:solidFill>
                <a:latin typeface="Roboto Mono Bold" pitchFamily="34" charset="0"/>
                <a:ea typeface="Roboto Mono Bold" pitchFamily="34" charset="-122"/>
                <a:cs typeface="Roboto Mono Bold" pitchFamily="34" charset="-120"/>
              </a:rPr>
              <a:t>&gt;&gt; LOADING_ETHICS_MODULE...</a:t>
            </a:r>
            <a:r>
              <a:rPr lang="en-US" sz="600" dirty="0">
                <a:solidFill>
                  <a:srgbClr val="00FF41">
                    <a:alpha val="60000"/>
                  </a:srgbClr>
                </a:solidFill>
                <a:latin typeface="Roboto Mono Bold" pitchFamily="34" charset="0"/>
                <a:ea typeface="Roboto Mono Bold" pitchFamily="34" charset="-122"/>
                <a:cs typeface="Roboto Mono Bold" pitchFamily="34" charset="-120"/>
              </a:rPr>
              <a:t>
</a:t>
            </a:r>
            <a:r>
              <a:rPr lang="en-US" sz="600" dirty="0">
                <a:solidFill>
                  <a:srgbClr val="00FF41">
                    <a:alpha val="60000"/>
                  </a:srgbClr>
                </a:solidFill>
                <a:latin typeface="Roboto Mono Bold" pitchFamily="34" charset="0"/>
                <a:ea typeface="Roboto Mono Bold" pitchFamily="34" charset="-122"/>
                <a:cs typeface="Roboto Mono Bold" pitchFamily="34" charset="-120"/>
              </a:rPr>
              <a:t>&gt;&gt; WARNING: SURVEILLANCE_ACTIVE</a:t>
            </a:r>
            <a:endParaRPr lang="en-US" sz="600" dirty="0"/>
          </a:p>
        </p:txBody>
      </p:sp>
      <p:sp>
        <p:nvSpPr>
          <p:cNvPr id="13" name="Shape 9"/>
          <p:cNvSpPr/>
          <p:nvPr/>
        </p:nvSpPr>
        <p:spPr>
          <a:xfrm>
            <a:off x="6225778" y="4668441"/>
            <a:ext cx="2603897" cy="160734"/>
          </a:xfrm>
          <a:prstGeom prst="rect">
            <a:avLst/>
          </a:prstGeom>
          <a:solidFill>
            <a:srgbClr val="00FF41"/>
          </a:solidFill>
          <a:ln/>
        </p:spPr>
      </p:sp>
      <p:sp>
        <p:nvSpPr>
          <p:cNvPr id="14" name="Text 10"/>
          <p:cNvSpPr/>
          <p:nvPr/>
        </p:nvSpPr>
        <p:spPr>
          <a:xfrm>
            <a:off x="6225778" y="4668441"/>
            <a:ext cx="2603897" cy="160734"/>
          </a:xfrm>
          <a:prstGeom prst="rect">
            <a:avLst/>
          </a:prstGeom>
          <a:noFill/>
          <a:ln/>
        </p:spPr>
        <p:txBody>
          <a:bodyPr wrap="square" lIns="68072" tIns="34036" rIns="68072" bIns="0" rtlCol="0" anchor="t">
            <a:spAutoFit/>
          </a:bodyPr>
          <a:lstStyle/>
          <a:p>
            <a:pPr algn="l" indent="0" marL="0">
              <a:buNone/>
            </a:pPr>
            <a:r>
              <a:rPr lang="en-US" sz="750" dirty="0">
                <a:solidFill>
                  <a:srgbClr val="000000"/>
                </a:solidFill>
                <a:latin typeface="Roboto Mono Bold" pitchFamily="34" charset="0"/>
                <a:ea typeface="Roboto Mono Bold" pitchFamily="34" charset="-122"/>
                <a:cs typeface="Roboto Mono Bold" pitchFamily="34" charset="-120"/>
              </a:rPr>
              <a:t>STATUS: ENCRYPTED // SESSION_ID: NYC_7782</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8" y="14288"/>
            <a:ext cx="9115425" cy="189309"/>
          </a:xfrm>
          <a:prstGeom prst="rect">
            <a:avLst/>
          </a:prstGeom>
          <a:solidFill>
            <a:srgbClr val="333333"/>
          </a:solidFill>
          <a:ln/>
        </p:spPr>
      </p:sp>
      <p:sp>
        <p:nvSpPr>
          <p:cNvPr id="5" name="Text 1"/>
          <p:cNvSpPr/>
          <p:nvPr/>
        </p:nvSpPr>
        <p:spPr>
          <a:xfrm>
            <a:off x="157163" y="71438"/>
            <a:ext cx="1457325" cy="132159"/>
          </a:xfrm>
          <a:prstGeom prst="rect">
            <a:avLst/>
          </a:prstGeom>
          <a:noFill/>
          <a:ln/>
        </p:spPr>
        <p:txBody>
          <a:bodyPr wrap="squar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FILE: intro_metaverse.sh</a:t>
            </a:r>
            <a:endParaRPr lang="en-US" sz="750" dirty="0"/>
          </a:p>
        </p:txBody>
      </p:sp>
      <p:sp>
        <p:nvSpPr>
          <p:cNvPr id="6" name="Text 2"/>
          <p:cNvSpPr/>
          <p:nvPr/>
        </p:nvSpPr>
        <p:spPr>
          <a:xfrm>
            <a:off x="7954566" y="71438"/>
            <a:ext cx="1032272" cy="132159"/>
          </a:xfrm>
          <a:prstGeom prst="rect">
            <a:avLst/>
          </a:prstGeom>
          <a:noFill/>
          <a:ln/>
        </p:spPr>
        <p:txBody>
          <a:bodyPr wrap="non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NODE: NYC_CORE_02</a:t>
            </a:r>
            <a:endParaRPr lang="en-US" sz="750" dirty="0"/>
          </a:p>
        </p:txBody>
      </p:sp>
      <p:sp>
        <p:nvSpPr>
          <p:cNvPr id="7" name="Text 3"/>
          <p:cNvSpPr/>
          <p:nvPr/>
        </p:nvSpPr>
        <p:spPr>
          <a:xfrm>
            <a:off x="442913" y="532209"/>
            <a:ext cx="3839766" cy="150019"/>
          </a:xfrm>
          <a:prstGeom prst="rect">
            <a:avLst/>
          </a:prstGeom>
          <a:noFill/>
          <a:ln/>
        </p:spPr>
        <p:txBody>
          <a:bodyPr wrap="square" lIns="0" tIns="0" rIns="0" bIns="0" rtlCol="0" anchor="t">
            <a:spAutoFit/>
          </a:bodyPr>
          <a:lstStyle/>
          <a:p>
            <a:pPr algn="l" indent="0" marL="0">
              <a:buNone/>
            </a:pPr>
            <a:r>
              <a:rPr lang="en-US" sz="850" dirty="0">
                <a:solidFill>
                  <a:srgbClr val="E11D48"/>
                </a:solidFill>
                <a:latin typeface="Roboto Mono Bold" pitchFamily="34" charset="0"/>
                <a:ea typeface="Roboto Mono Bold" pitchFamily="34" charset="-122"/>
                <a:cs typeface="Roboto Mono Bold" pitchFamily="34" charset="-120"/>
              </a:rPr>
              <a:t>root@nyc_node:~#</a:t>
            </a:r>
            <a:r>
              <a:rPr lang="en-US" sz="850" dirty="0">
                <a:solidFill>
                  <a:srgbClr val="00FF41"/>
                </a:solidFill>
                <a:latin typeface="Roboto Mono Bold" pitchFamily="34" charset="0"/>
                <a:ea typeface="Roboto Mono Bold" pitchFamily="34" charset="-122"/>
                <a:cs typeface="Roboto Mono Bold" pitchFamily="34" charset="-120"/>
              </a:rPr>
              <a:t> cat definition.txt</a:t>
            </a:r>
            <a:endParaRPr lang="en-US" sz="850" dirty="0"/>
          </a:p>
        </p:txBody>
      </p:sp>
      <p:sp>
        <p:nvSpPr>
          <p:cNvPr id="8" name="Text 4"/>
          <p:cNvSpPr/>
          <p:nvPr/>
        </p:nvSpPr>
        <p:spPr>
          <a:xfrm>
            <a:off x="442913" y="825103"/>
            <a:ext cx="3839766" cy="189309"/>
          </a:xfrm>
          <a:prstGeom prst="rect">
            <a:avLst/>
          </a:prstGeom>
          <a:noFill/>
          <a:ln/>
        </p:spPr>
        <p:txBody>
          <a:bodyPr wrap="square" lIns="0" tIns="0"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Digital Workspace</a:t>
            </a:r>
            <a:endParaRPr lang="en-US" sz="1000" dirty="0"/>
          </a:p>
        </p:txBody>
      </p:sp>
      <p:sp>
        <p:nvSpPr>
          <p:cNvPr id="9" name="Text 5"/>
          <p:cNvSpPr/>
          <p:nvPr/>
        </p:nvSpPr>
        <p:spPr>
          <a:xfrm>
            <a:off x="442913" y="1085850"/>
            <a:ext cx="3839766"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A1A1AA"/>
                </a:solidFill>
                <a:latin typeface="Inter" pitchFamily="34" charset="0"/>
                <a:ea typeface="Inter" pitchFamily="34" charset="-122"/>
                <a:cs typeface="Inter" pitchFamily="34" charset="-120"/>
              </a:rPr>
              <a:t>A virtual reality environment where corporate operations, communication, and collaboration are digitized into immersive 3D spaces.</a:t>
            </a:r>
            <a:endParaRPr lang="en-US" sz="950" dirty="0"/>
          </a:p>
        </p:txBody>
      </p:sp>
      <p:sp>
        <p:nvSpPr>
          <p:cNvPr id="10" name="Shape 6"/>
          <p:cNvSpPr/>
          <p:nvPr/>
        </p:nvSpPr>
        <p:spPr>
          <a:xfrm>
            <a:off x="442913" y="1878806"/>
            <a:ext cx="3839766" cy="2116336"/>
          </a:xfrm>
          <a:prstGeom prst="rect">
            <a:avLst/>
          </a:prstGeom>
          <a:solidFill>
            <a:srgbClr val="000000"/>
          </a:solidFill>
          <a:ln w="9144">
            <a:solidFill>
              <a:srgbClr val="00FF41"/>
            </a:solidFill>
            <a:prstDash val="solid"/>
          </a:ln>
        </p:spPr>
      </p:sp>
      <p:pic>
        <p:nvPicPr>
          <p:cNvPr id="11" name="Image 1" descr="preencoded.png">    </p:cNvPr>
          <p:cNvPicPr>
            <a:picLocks noChangeAspect="1"/>
          </p:cNvPicPr>
          <p:nvPr/>
        </p:nvPicPr>
        <p:blipFill>
          <a:blip r:embed="rId2"/>
          <a:stretch>
            <a:fillRect/>
          </a:stretch>
        </p:blipFill>
        <p:spPr>
          <a:xfrm>
            <a:off x="478631" y="1914525"/>
            <a:ext cx="3768328" cy="2000250"/>
          </a:xfrm>
          <a:prstGeom prst="rect">
            <a:avLst/>
          </a:prstGeom>
        </p:spPr>
      </p:pic>
      <p:sp>
        <p:nvSpPr>
          <p:cNvPr id="12" name="Text 7"/>
          <p:cNvSpPr/>
          <p:nvPr/>
        </p:nvSpPr>
        <p:spPr>
          <a:xfrm>
            <a:off x="4861322" y="532209"/>
            <a:ext cx="3839766" cy="150019"/>
          </a:xfrm>
          <a:prstGeom prst="rect">
            <a:avLst/>
          </a:prstGeom>
          <a:noFill/>
          <a:ln/>
        </p:spPr>
        <p:txBody>
          <a:bodyPr wrap="square" lIns="0" tIns="0" rIns="0" bIns="0" rtlCol="0" anchor="t">
            <a:spAutoFit/>
          </a:bodyPr>
          <a:lstStyle/>
          <a:p>
            <a:pPr algn="l" indent="0" marL="0">
              <a:buNone/>
            </a:pPr>
            <a:r>
              <a:rPr lang="en-US" sz="850" dirty="0">
                <a:solidFill>
                  <a:srgbClr val="E11D48"/>
                </a:solidFill>
                <a:latin typeface="Roboto Mono Bold" pitchFamily="34" charset="0"/>
                <a:ea typeface="Roboto Mono Bold" pitchFamily="34" charset="-122"/>
                <a:cs typeface="Roboto Mono Bold" pitchFamily="34" charset="-120"/>
              </a:rPr>
              <a:t>root@nyc_node:~#</a:t>
            </a:r>
            <a:r>
              <a:rPr lang="en-US" sz="850" dirty="0">
                <a:solidFill>
                  <a:srgbClr val="00FF41"/>
                </a:solidFill>
                <a:latin typeface="Roboto Mono Bold" pitchFamily="34" charset="0"/>
                <a:ea typeface="Roboto Mono Bold" pitchFamily="34" charset="-122"/>
                <a:cs typeface="Roboto Mono Bold" pitchFamily="34" charset="-120"/>
              </a:rPr>
              <a:t> ./check_status.sh</a:t>
            </a:r>
            <a:endParaRPr lang="en-US" sz="850" dirty="0"/>
          </a:p>
        </p:txBody>
      </p:sp>
      <p:sp>
        <p:nvSpPr>
          <p:cNvPr id="13" name="Text 8"/>
          <p:cNvSpPr/>
          <p:nvPr/>
        </p:nvSpPr>
        <p:spPr>
          <a:xfrm>
            <a:off x="4861322" y="825103"/>
            <a:ext cx="3839766" cy="189309"/>
          </a:xfrm>
          <a:prstGeom prst="rect">
            <a:avLst/>
          </a:prstGeom>
          <a:noFill/>
          <a:ln/>
        </p:spPr>
        <p:txBody>
          <a:bodyPr wrap="square" lIns="0" tIns="0"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Corporate Adoption</a:t>
            </a:r>
            <a:endParaRPr lang="en-US" sz="1000" dirty="0"/>
          </a:p>
        </p:txBody>
      </p:sp>
      <p:sp>
        <p:nvSpPr>
          <p:cNvPr id="14" name="Text 9"/>
          <p:cNvSpPr/>
          <p:nvPr/>
        </p:nvSpPr>
        <p:spPr>
          <a:xfrm>
            <a:off x="4861322" y="1085850"/>
            <a:ext cx="3839766"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A1A1AA"/>
                </a:solidFill>
                <a:latin typeface="Inter" pitchFamily="34" charset="0"/>
                <a:ea typeface="Inter" pitchFamily="34" charset="-122"/>
                <a:cs typeface="Inter" pitchFamily="34" charset="-120"/>
              </a:rPr>
              <a:t>Major firms are transitioning to virtual offices for global teamwork, training, and client interaction, often outpacing existing labor protections.</a:t>
            </a:r>
            <a:endParaRPr lang="en-US" sz="950" dirty="0"/>
          </a:p>
        </p:txBody>
      </p:sp>
      <p:sp>
        <p:nvSpPr>
          <p:cNvPr id="15" name="Text 10"/>
          <p:cNvSpPr/>
          <p:nvPr/>
        </p:nvSpPr>
        <p:spPr>
          <a:xfrm>
            <a:off x="5011341" y="2100263"/>
            <a:ext cx="3539728" cy="189309"/>
          </a:xfrm>
          <a:prstGeom prst="rect">
            <a:avLst/>
          </a:prstGeom>
          <a:noFill/>
          <a:ln/>
        </p:spPr>
        <p:txBody>
          <a:bodyPr wrap="square" lIns="0" tIns="0" rIns="0" bIns="0" rtlCol="0" anchor="t">
            <a:spAutoFit/>
          </a:bodyPr>
          <a:lstStyle/>
          <a:p>
            <a:pPr algn="l" indent="0" marL="0">
              <a:buNone/>
            </a:pPr>
            <a:r>
              <a:rPr lang="en-US" sz="1000" b="1" dirty="0">
                <a:solidFill>
                  <a:srgbClr val="E11D48"/>
                </a:solidFill>
                <a:latin typeface="Roboto Mono Bold" pitchFamily="34" charset="0"/>
                <a:ea typeface="Roboto Mono Bold" pitchFamily="34" charset="-122"/>
                <a:cs typeface="Roboto Mono Bold" pitchFamily="34" charset="-120"/>
              </a:rPr>
              <a:t>SYSTEM_ALERT</a:t>
            </a:r>
            <a:endParaRPr lang="en-US" sz="1000" dirty="0"/>
          </a:p>
        </p:txBody>
      </p:sp>
      <p:sp>
        <p:nvSpPr>
          <p:cNvPr id="16" name="Text 11"/>
          <p:cNvSpPr/>
          <p:nvPr/>
        </p:nvSpPr>
        <p:spPr>
          <a:xfrm>
            <a:off x="5011341" y="2361009"/>
            <a:ext cx="3539728"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F4F4F5"/>
                </a:solidFill>
                <a:latin typeface="Inter" pitchFamily="34" charset="0"/>
                <a:ea typeface="Inter" pitchFamily="34" charset="-122"/>
                <a:cs typeface="Inter" pitchFamily="34" charset="-120"/>
              </a:rPr>
              <a:t>"The rapid expansion of virtual work creates a regulatory vacuum where corporate policy becomes the law."</a:t>
            </a:r>
            <a:endParaRPr lang="en-US" sz="950" dirty="0"/>
          </a:p>
        </p:txBody>
      </p:sp>
      <p:sp>
        <p:nvSpPr>
          <p:cNvPr id="17" name="Shape 12"/>
          <p:cNvSpPr/>
          <p:nvPr/>
        </p:nvSpPr>
        <p:spPr>
          <a:xfrm>
            <a:off x="14288" y="4902398"/>
            <a:ext cx="9115425" cy="226814"/>
          </a:xfrm>
          <a:prstGeom prst="rect">
            <a:avLst/>
          </a:prstGeom>
          <a:solidFill>
            <a:srgbClr val="000000">
              <a:alpha val="0"/>
            </a:srgbClr>
          </a:solidFill>
          <a:ln/>
        </p:spPr>
      </p:sp>
      <p:sp>
        <p:nvSpPr>
          <p:cNvPr id="18" name="Shape 13"/>
          <p:cNvSpPr/>
          <p:nvPr/>
        </p:nvSpPr>
        <p:spPr>
          <a:xfrm>
            <a:off x="14288" y="4902398"/>
            <a:ext cx="9115425" cy="7144"/>
          </a:xfrm>
          <a:prstGeom prst="rect">
            <a:avLst/>
          </a:prstGeom>
          <a:solidFill>
            <a:srgbClr val="333333"/>
          </a:solidFill>
          <a:ln/>
        </p:spPr>
      </p:sp>
      <p:sp>
        <p:nvSpPr>
          <p:cNvPr id="19" name="Text 14"/>
          <p:cNvSpPr/>
          <p:nvPr/>
        </p:nvSpPr>
        <p:spPr>
          <a:xfrm>
            <a:off x="14288" y="4902398"/>
            <a:ext cx="9115425" cy="226814"/>
          </a:xfrm>
          <a:prstGeom prst="rect">
            <a:avLst/>
          </a:prstGeom>
          <a:noFill/>
          <a:ln/>
        </p:spPr>
        <p:txBody>
          <a:bodyPr wrap="square" lIns="510286" tIns="127508" rIns="0" bIns="0" rtlCol="0" anchor="t">
            <a:spAutoFit/>
          </a:bodyPr>
          <a:lstStyle/>
          <a:p>
            <a:pPr algn="l" indent="0" marL="0">
              <a:buNone/>
            </a:pPr>
            <a:r>
              <a:rPr lang="en-US" sz="600" dirty="0">
                <a:solidFill>
                  <a:srgbClr val="666666"/>
                </a:solidFill>
                <a:latin typeface="Roboto Mono Bold" pitchFamily="34" charset="0"/>
                <a:ea typeface="Roboto Mono Bold" pitchFamily="34" charset="-122"/>
                <a:cs typeface="Roboto Mono Bold" pitchFamily="34" charset="-120"/>
              </a:rPr>
              <a:t>[SECTION_01] // [METAVERSE_INIT] // [PAGE_02]</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8" y="14288"/>
            <a:ext cx="9115425" cy="189309"/>
          </a:xfrm>
          <a:prstGeom prst="rect">
            <a:avLst/>
          </a:prstGeom>
          <a:solidFill>
            <a:srgbClr val="333333"/>
          </a:solidFill>
          <a:ln/>
        </p:spPr>
      </p:sp>
      <p:sp>
        <p:nvSpPr>
          <p:cNvPr id="5" name="Text 1"/>
          <p:cNvSpPr/>
          <p:nvPr/>
        </p:nvSpPr>
        <p:spPr>
          <a:xfrm>
            <a:off x="157163" y="71438"/>
            <a:ext cx="1335881" cy="132159"/>
          </a:xfrm>
          <a:prstGeom prst="rect">
            <a:avLst/>
          </a:prstGeom>
          <a:noFill/>
          <a:ln/>
        </p:spPr>
        <p:txBody>
          <a:bodyPr wrap="squar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FILE: core_problem.log</a:t>
            </a:r>
            <a:endParaRPr lang="en-US" sz="750" dirty="0"/>
          </a:p>
        </p:txBody>
      </p:sp>
      <p:sp>
        <p:nvSpPr>
          <p:cNvPr id="6" name="Text 2"/>
          <p:cNvSpPr/>
          <p:nvPr/>
        </p:nvSpPr>
        <p:spPr>
          <a:xfrm>
            <a:off x="7954566" y="71438"/>
            <a:ext cx="1032272" cy="132159"/>
          </a:xfrm>
          <a:prstGeom prst="rect">
            <a:avLst/>
          </a:prstGeom>
          <a:noFill/>
          <a:ln/>
        </p:spPr>
        <p:txBody>
          <a:bodyPr wrap="non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NODE: NYC_CORE_03</a:t>
            </a:r>
            <a:endParaRPr lang="en-US" sz="750" dirty="0"/>
          </a:p>
        </p:txBody>
      </p:sp>
      <p:sp>
        <p:nvSpPr>
          <p:cNvPr id="7" name="Text 3"/>
          <p:cNvSpPr/>
          <p:nvPr/>
        </p:nvSpPr>
        <p:spPr>
          <a:xfrm>
            <a:off x="442913" y="532209"/>
            <a:ext cx="4607719" cy="150019"/>
          </a:xfrm>
          <a:prstGeom prst="rect">
            <a:avLst/>
          </a:prstGeom>
          <a:noFill/>
          <a:ln/>
        </p:spPr>
        <p:txBody>
          <a:bodyPr wrap="square" lIns="0" tIns="0" rIns="0" bIns="0" rtlCol="0" anchor="t">
            <a:spAutoFit/>
          </a:bodyPr>
          <a:lstStyle/>
          <a:p>
            <a:pPr algn="l" indent="0" marL="0">
              <a:buNone/>
            </a:pPr>
            <a:r>
              <a:rPr lang="en-US" sz="850" dirty="0">
                <a:solidFill>
                  <a:srgbClr val="E11D48"/>
                </a:solidFill>
                <a:latin typeface="Roboto Mono Bold" pitchFamily="34" charset="0"/>
                <a:ea typeface="Roboto Mono Bold" pitchFamily="34" charset="-122"/>
                <a:cs typeface="Roboto Mono Bold" pitchFamily="34" charset="-120"/>
              </a:rPr>
              <a:t>root@nyc_node:~#</a:t>
            </a:r>
            <a:r>
              <a:rPr lang="en-US" sz="850" dirty="0">
                <a:solidFill>
                  <a:srgbClr val="00FF41"/>
                </a:solidFill>
                <a:latin typeface="Roboto Mono Bold" pitchFamily="34" charset="0"/>
                <a:ea typeface="Roboto Mono Bold" pitchFamily="34" charset="-122"/>
                <a:cs typeface="Roboto Mono Bold" pitchFamily="34" charset="-120"/>
              </a:rPr>
              <a:t> grep "LAG" analysis.txt</a:t>
            </a:r>
            <a:endParaRPr lang="en-US" sz="850" dirty="0"/>
          </a:p>
        </p:txBody>
      </p:sp>
      <p:sp>
        <p:nvSpPr>
          <p:cNvPr id="8" name="Text 4"/>
          <p:cNvSpPr/>
          <p:nvPr/>
        </p:nvSpPr>
        <p:spPr>
          <a:xfrm>
            <a:off x="442913" y="825103"/>
            <a:ext cx="4607719" cy="250031"/>
          </a:xfrm>
          <a:prstGeom prst="rect">
            <a:avLst/>
          </a:prstGeom>
          <a:noFill/>
          <a:ln/>
        </p:spPr>
        <p:txBody>
          <a:bodyPr wrap="square" lIns="0" tIns="42545" rIns="0" bIns="0" rtlCol="0" anchor="t">
            <a:spAutoFit/>
          </a:bodyPr>
          <a:lstStyle/>
          <a:p>
            <a:pPr algn="l" indent="0" marL="0">
              <a:buNone/>
            </a:pPr>
            <a:r>
              <a:rPr lang="en-US" sz="1100" b="1" dirty="0">
                <a:solidFill>
                  <a:srgbClr val="00FF41"/>
                </a:solidFill>
                <a:latin typeface="Roboto Mono Bold" pitchFamily="34" charset="0"/>
                <a:ea typeface="Roboto Mono Bold" pitchFamily="34" charset="-122"/>
                <a:cs typeface="Roboto Mono Bold" pitchFamily="34" charset="-120"/>
              </a:rPr>
              <a:t>Regulatory Lag</a:t>
            </a:r>
            <a:endParaRPr lang="en-US" sz="1100" dirty="0"/>
          </a:p>
        </p:txBody>
      </p:sp>
      <p:sp>
        <p:nvSpPr>
          <p:cNvPr id="9" name="Text 5"/>
          <p:cNvSpPr/>
          <p:nvPr/>
        </p:nvSpPr>
        <p:spPr>
          <a:xfrm>
            <a:off x="442913" y="1146572"/>
            <a:ext cx="4607719"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A1A1AA"/>
                </a:solidFill>
                <a:latin typeface="Inter" pitchFamily="34" charset="0"/>
                <a:ea typeface="Inter" pitchFamily="34" charset="-122"/>
                <a:cs typeface="Inter" pitchFamily="34" charset="-120"/>
              </a:rPr>
              <a:t>Technological advancement in the metaverse is moving at light speed, while legal frameworks remain stuck in the analog era. This creates a massive gap in worker protections.</a:t>
            </a:r>
            <a:endParaRPr lang="en-US" sz="950" dirty="0"/>
          </a:p>
        </p:txBody>
      </p:sp>
      <p:sp>
        <p:nvSpPr>
          <p:cNvPr id="10" name="Shape 6"/>
          <p:cNvSpPr/>
          <p:nvPr/>
        </p:nvSpPr>
        <p:spPr>
          <a:xfrm>
            <a:off x="442913" y="1868091"/>
            <a:ext cx="4607719" cy="757238"/>
          </a:xfrm>
          <a:prstGeom prst="rect">
            <a:avLst/>
          </a:prstGeom>
          <a:solidFill>
            <a:srgbClr val="000000"/>
          </a:solidFill>
          <a:ln w="9144">
            <a:solidFill>
              <a:srgbClr val="333333"/>
            </a:solidFill>
            <a:prstDash val="solid"/>
          </a:ln>
        </p:spPr>
      </p:sp>
      <p:sp>
        <p:nvSpPr>
          <p:cNvPr id="11" name="Text 7"/>
          <p:cNvSpPr/>
          <p:nvPr/>
        </p:nvSpPr>
        <p:spPr>
          <a:xfrm>
            <a:off x="442913" y="1868091"/>
            <a:ext cx="4607719" cy="757238"/>
          </a:xfrm>
          <a:prstGeom prst="rect">
            <a:avLst/>
          </a:prstGeom>
          <a:noFill/>
          <a:ln/>
        </p:spPr>
        <p:txBody>
          <a:bodyPr wrap="square" lIns="127508" tIns="127508" rIns="127508" bIns="127508" rtlCol="0" anchor="t">
            <a:spAutoFit/>
          </a:bodyPr>
          <a:lstStyle/>
          <a:p>
            <a:pPr algn="l" indent="0" marL="0">
              <a:buNone/>
            </a:pPr>
            <a:r>
              <a:rPr lang="en-US" sz="750" dirty="0">
                <a:solidFill>
                  <a:srgbClr val="00FF41"/>
                </a:solidFill>
                <a:latin typeface="Roboto Mono Bold" pitchFamily="34" charset="0"/>
                <a:ea typeface="Roboto Mono Bold" pitchFamily="34" charset="-122"/>
                <a:cs typeface="Roboto Mono Bold" pitchFamily="34" charset="-120"/>
              </a:rPr>
              <a:t>&gt; [SYSTEM_SCAN] DETECTING_REGULATORY_GAP...</a:t>
            </a:r>
            <a:r>
              <a:rPr lang="en-US" sz="750" dirty="0">
                <a:solidFill>
                  <a:srgbClr val="00FF41"/>
                </a:solidFill>
                <a:latin typeface="Roboto Mono Bold" pitchFamily="34" charset="0"/>
                <a:ea typeface="Roboto Mono Bold" pitchFamily="34" charset="-122"/>
                <a:cs typeface="Roboto Mono Bold" pitchFamily="34" charset="-120"/>
              </a:rPr>
              <a:t>
</a:t>
            </a:r>
            <a:r>
              <a:rPr lang="en-US" sz="750" dirty="0">
                <a:solidFill>
                  <a:srgbClr val="00FF41"/>
                </a:solidFill>
                <a:latin typeface="Roboto Mono Bold" pitchFamily="34" charset="0"/>
                <a:ea typeface="Roboto Mono Bold" pitchFamily="34" charset="-122"/>
                <a:cs typeface="Roboto Mono Bold" pitchFamily="34" charset="-120"/>
              </a:rPr>
              <a:t>&gt; [WARNING] LAW_VERSION: 1.0 (LEGACY_SYSTEM)</a:t>
            </a:r>
            <a:r>
              <a:rPr lang="en-US" sz="750" dirty="0">
                <a:solidFill>
                  <a:srgbClr val="00FF41"/>
                </a:solidFill>
                <a:latin typeface="Roboto Mono Bold" pitchFamily="34" charset="0"/>
                <a:ea typeface="Roboto Mono Bold" pitchFamily="34" charset="-122"/>
                <a:cs typeface="Roboto Mono Bold" pitchFamily="34" charset="-120"/>
              </a:rPr>
              <a:t>
</a:t>
            </a:r>
            <a:r>
              <a:rPr lang="en-US" sz="750" dirty="0">
                <a:solidFill>
                  <a:srgbClr val="00FF41"/>
                </a:solidFill>
                <a:latin typeface="Roboto Mono Bold" pitchFamily="34" charset="0"/>
                <a:ea typeface="Roboto Mono Bold" pitchFamily="34" charset="-122"/>
                <a:cs typeface="Roboto Mono Bold" pitchFamily="34" charset="-120"/>
              </a:rPr>
              <a:t>&gt; [WARNING] TECH_VERSION: 4.0 (BETA_PHASE)</a:t>
            </a:r>
            <a:r>
              <a:rPr lang="en-US" sz="750" dirty="0">
                <a:solidFill>
                  <a:srgbClr val="00FF41"/>
                </a:solidFill>
                <a:latin typeface="Roboto Mono Bold" pitchFamily="34" charset="0"/>
                <a:ea typeface="Roboto Mono Bold" pitchFamily="34" charset="-122"/>
                <a:cs typeface="Roboto Mono Bold" pitchFamily="34" charset="-120"/>
              </a:rPr>
              <a:t>
</a:t>
            </a:r>
            <a:r>
              <a:rPr lang="en-US" sz="750" dirty="0">
                <a:solidFill>
                  <a:srgbClr val="00FF41"/>
                </a:solidFill>
                <a:latin typeface="Roboto Mono Bold" pitchFamily="34" charset="0"/>
                <a:ea typeface="Roboto Mono Bold" pitchFamily="34" charset="-122"/>
                <a:cs typeface="Roboto Mono Bold" pitchFamily="34" charset="-120"/>
              </a:rPr>
              <a:t>&gt; [RESULT] COMPATIBILITY_ERROR: RIGHTS_NOT_FOUND</a:t>
            </a:r>
            <a:endParaRPr lang="en-US" sz="750" dirty="0"/>
          </a:p>
        </p:txBody>
      </p:sp>
      <p:sp>
        <p:nvSpPr>
          <p:cNvPr id="12" name="Shape 8"/>
          <p:cNvSpPr/>
          <p:nvPr/>
        </p:nvSpPr>
        <p:spPr>
          <a:xfrm>
            <a:off x="5336381" y="417909"/>
            <a:ext cx="3364706" cy="4484489"/>
          </a:xfrm>
          <a:prstGeom prst="rect">
            <a:avLst/>
          </a:prstGeom>
          <a:solidFill>
            <a:srgbClr val="00FF41">
              <a:alpha val="2000"/>
            </a:srgbClr>
          </a:solidFill>
          <a:ln/>
        </p:spPr>
      </p:sp>
      <p:sp>
        <p:nvSpPr>
          <p:cNvPr id="13" name="Shape 9"/>
          <p:cNvSpPr/>
          <p:nvPr/>
        </p:nvSpPr>
        <p:spPr>
          <a:xfrm>
            <a:off x="5336381" y="417909"/>
            <a:ext cx="7144" cy="4484489"/>
          </a:xfrm>
          <a:prstGeom prst="rect">
            <a:avLst/>
          </a:prstGeom>
          <a:solidFill>
            <a:srgbClr val="333333"/>
          </a:solidFill>
          <a:ln/>
        </p:spPr>
      </p:sp>
      <p:sp>
        <p:nvSpPr>
          <p:cNvPr id="14" name="Text 10"/>
          <p:cNvSpPr/>
          <p:nvPr/>
        </p:nvSpPr>
        <p:spPr>
          <a:xfrm>
            <a:off x="5626429" y="532209"/>
            <a:ext cx="3074659" cy="150019"/>
          </a:xfrm>
          <a:prstGeom prst="rect">
            <a:avLst/>
          </a:prstGeom>
          <a:noFill/>
          <a:ln/>
        </p:spPr>
        <p:txBody>
          <a:bodyPr wrap="square" lIns="0" tIns="0" rIns="0" bIns="0" rtlCol="0" anchor="t">
            <a:spAutoFit/>
          </a:bodyPr>
          <a:lstStyle/>
          <a:p>
            <a:pPr algn="l" indent="0" marL="0">
              <a:buNone/>
            </a:pPr>
            <a:r>
              <a:rPr lang="en-US" sz="850" dirty="0">
                <a:solidFill>
                  <a:srgbClr val="E11D48"/>
                </a:solidFill>
                <a:latin typeface="Roboto Mono Bold" pitchFamily="34" charset="0"/>
                <a:ea typeface="Roboto Mono Bold" pitchFamily="34" charset="-122"/>
                <a:cs typeface="Roboto Mono Bold" pitchFamily="34" charset="-120"/>
              </a:rPr>
              <a:t>root@nyc_node:~#</a:t>
            </a:r>
            <a:r>
              <a:rPr lang="en-US" sz="850" dirty="0">
                <a:solidFill>
                  <a:srgbClr val="00FF41"/>
                </a:solidFill>
                <a:latin typeface="Roboto Mono Bold" pitchFamily="34" charset="0"/>
                <a:ea typeface="Roboto Mono Bold" pitchFamily="34" charset="-122"/>
                <a:cs typeface="Roboto Mono Bold" pitchFamily="34" charset="-120"/>
              </a:rPr>
              <a:t> view image.png</a:t>
            </a:r>
            <a:endParaRPr lang="en-US" sz="850" dirty="0"/>
          </a:p>
        </p:txBody>
      </p:sp>
      <p:sp>
        <p:nvSpPr>
          <p:cNvPr id="15" name="Shape 11"/>
          <p:cNvSpPr/>
          <p:nvPr/>
        </p:nvSpPr>
        <p:spPr>
          <a:xfrm>
            <a:off x="5626429" y="825103"/>
            <a:ext cx="3074659" cy="1544836"/>
          </a:xfrm>
          <a:prstGeom prst="rect">
            <a:avLst/>
          </a:prstGeom>
          <a:solidFill>
            <a:srgbClr val="000000"/>
          </a:solidFill>
          <a:ln w="9144">
            <a:solidFill>
              <a:srgbClr val="00FF41"/>
            </a:solidFill>
            <a:prstDash val="solid"/>
          </a:ln>
        </p:spPr>
      </p:sp>
      <p:pic>
        <p:nvPicPr>
          <p:cNvPr id="16" name="Image 1" descr="preencoded.png">    </p:cNvPr>
          <p:cNvPicPr>
            <a:picLocks noChangeAspect="1"/>
          </p:cNvPicPr>
          <p:nvPr/>
        </p:nvPicPr>
        <p:blipFill>
          <a:blip r:embed="rId2"/>
          <a:stretch>
            <a:fillRect/>
          </a:stretch>
        </p:blipFill>
        <p:spPr>
          <a:xfrm>
            <a:off x="5662147" y="860822"/>
            <a:ext cx="3003221" cy="1428750"/>
          </a:xfrm>
          <a:prstGeom prst="rect">
            <a:avLst/>
          </a:prstGeom>
        </p:spPr>
      </p:pic>
      <p:sp>
        <p:nvSpPr>
          <p:cNvPr id="17" name="Text 12"/>
          <p:cNvSpPr/>
          <p:nvPr/>
        </p:nvSpPr>
        <p:spPr>
          <a:xfrm>
            <a:off x="5626429" y="2498527"/>
            <a:ext cx="3074659" cy="250031"/>
          </a:xfrm>
          <a:prstGeom prst="rect">
            <a:avLst/>
          </a:prstGeom>
          <a:noFill/>
          <a:ln/>
        </p:spPr>
        <p:txBody>
          <a:bodyPr wrap="square" lIns="0" tIns="42545" rIns="0" bIns="0" rtlCol="0" anchor="t">
            <a:spAutoFit/>
          </a:bodyPr>
          <a:lstStyle/>
          <a:p>
            <a:pPr algn="l" indent="0" marL="0">
              <a:buNone/>
            </a:pPr>
            <a:r>
              <a:rPr lang="en-US" sz="1100" b="1" dirty="0">
                <a:solidFill>
                  <a:srgbClr val="00FF41"/>
                </a:solidFill>
                <a:latin typeface="Roboto Mono Bold" pitchFamily="34" charset="0"/>
                <a:ea typeface="Roboto Mono Bold" pitchFamily="34" charset="-122"/>
                <a:cs typeface="Roboto Mono Bold" pitchFamily="34" charset="-120"/>
              </a:rPr>
              <a:t>Ethical Vacuum</a:t>
            </a:r>
            <a:endParaRPr lang="en-US" sz="1100" dirty="0"/>
          </a:p>
        </p:txBody>
      </p:sp>
      <p:sp>
        <p:nvSpPr>
          <p:cNvPr id="18" name="Text 13"/>
          <p:cNvSpPr/>
          <p:nvPr/>
        </p:nvSpPr>
        <p:spPr>
          <a:xfrm>
            <a:off x="5626429" y="2819995"/>
            <a:ext cx="3074659"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A1A1AA"/>
                </a:solidFill>
                <a:latin typeface="Inter" pitchFamily="34" charset="0"/>
                <a:ea typeface="Inter" pitchFamily="34" charset="-122"/>
                <a:cs typeface="Inter" pitchFamily="34" charset="-120"/>
              </a:rPr>
              <a:t>In this vacuum, corporate interests dictate the rules of engagement, often at the expense of individual privacy and labor rights.</a:t>
            </a:r>
            <a:endParaRPr lang="en-US" sz="950" dirty="0"/>
          </a:p>
        </p:txBody>
      </p:sp>
      <p:sp>
        <p:nvSpPr>
          <p:cNvPr id="19" name="Shape 14"/>
          <p:cNvSpPr/>
          <p:nvPr/>
        </p:nvSpPr>
        <p:spPr>
          <a:xfrm>
            <a:off x="14288" y="4902398"/>
            <a:ext cx="9115425" cy="226814"/>
          </a:xfrm>
          <a:prstGeom prst="rect">
            <a:avLst/>
          </a:prstGeom>
          <a:solidFill>
            <a:srgbClr val="000000">
              <a:alpha val="0"/>
            </a:srgbClr>
          </a:solidFill>
          <a:ln/>
        </p:spPr>
      </p:sp>
      <p:sp>
        <p:nvSpPr>
          <p:cNvPr id="20" name="Shape 15"/>
          <p:cNvSpPr/>
          <p:nvPr/>
        </p:nvSpPr>
        <p:spPr>
          <a:xfrm>
            <a:off x="14288" y="4902398"/>
            <a:ext cx="9115425" cy="7144"/>
          </a:xfrm>
          <a:prstGeom prst="rect">
            <a:avLst/>
          </a:prstGeom>
          <a:solidFill>
            <a:srgbClr val="333333"/>
          </a:solidFill>
          <a:ln/>
        </p:spPr>
      </p:sp>
      <p:sp>
        <p:nvSpPr>
          <p:cNvPr id="21" name="Text 16"/>
          <p:cNvSpPr/>
          <p:nvPr/>
        </p:nvSpPr>
        <p:spPr>
          <a:xfrm>
            <a:off x="14288" y="4902398"/>
            <a:ext cx="9115425" cy="226814"/>
          </a:xfrm>
          <a:prstGeom prst="rect">
            <a:avLst/>
          </a:prstGeom>
          <a:noFill/>
          <a:ln/>
        </p:spPr>
        <p:txBody>
          <a:bodyPr wrap="square" lIns="510286" tIns="127508" rIns="0" bIns="0" rtlCol="0" anchor="t">
            <a:spAutoFit/>
          </a:bodyPr>
          <a:lstStyle/>
          <a:p>
            <a:pPr algn="l" indent="0" marL="0">
              <a:buNone/>
            </a:pPr>
            <a:r>
              <a:rPr lang="en-US" sz="600" dirty="0">
                <a:solidFill>
                  <a:srgbClr val="666666"/>
                </a:solidFill>
                <a:latin typeface="Roboto Mono Bold" pitchFamily="34" charset="0"/>
                <a:ea typeface="Roboto Mono Bold" pitchFamily="34" charset="-122"/>
                <a:cs typeface="Roboto Mono Bold" pitchFamily="34" charset="-120"/>
              </a:rPr>
              <a:t>[SECTION_02] // [REGULATORY_GAP] // [PAGE_03]</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8" y="14288"/>
            <a:ext cx="9115425" cy="189309"/>
          </a:xfrm>
          <a:prstGeom prst="rect">
            <a:avLst/>
          </a:prstGeom>
          <a:solidFill>
            <a:srgbClr val="333333"/>
          </a:solidFill>
          <a:ln/>
        </p:spPr>
      </p:sp>
      <p:sp>
        <p:nvSpPr>
          <p:cNvPr id="5" name="Text 1"/>
          <p:cNvSpPr/>
          <p:nvPr/>
        </p:nvSpPr>
        <p:spPr>
          <a:xfrm>
            <a:off x="157163" y="71438"/>
            <a:ext cx="1275159" cy="132159"/>
          </a:xfrm>
          <a:prstGeom prst="rect">
            <a:avLst/>
          </a:prstGeom>
          <a:noFill/>
          <a:ln/>
        </p:spPr>
        <p:txBody>
          <a:bodyPr wrap="non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FILE: labor_issues.sh</a:t>
            </a:r>
            <a:endParaRPr lang="en-US" sz="750" dirty="0"/>
          </a:p>
        </p:txBody>
      </p:sp>
      <p:sp>
        <p:nvSpPr>
          <p:cNvPr id="6" name="Text 2"/>
          <p:cNvSpPr/>
          <p:nvPr/>
        </p:nvSpPr>
        <p:spPr>
          <a:xfrm>
            <a:off x="7954566" y="71438"/>
            <a:ext cx="1032272" cy="132159"/>
          </a:xfrm>
          <a:prstGeom prst="rect">
            <a:avLst/>
          </a:prstGeom>
          <a:noFill/>
          <a:ln/>
        </p:spPr>
        <p:txBody>
          <a:bodyPr wrap="non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NODE: NYC_CORE_04</a:t>
            </a:r>
            <a:endParaRPr lang="en-US" sz="750" dirty="0"/>
          </a:p>
        </p:txBody>
      </p:sp>
      <p:sp>
        <p:nvSpPr>
          <p:cNvPr id="7" name="Text 3"/>
          <p:cNvSpPr/>
          <p:nvPr/>
        </p:nvSpPr>
        <p:spPr>
          <a:xfrm>
            <a:off x="442913" y="417909"/>
            <a:ext cx="2462222" cy="112514"/>
          </a:xfrm>
          <a:prstGeom prst="rect">
            <a:avLst/>
          </a:prstGeom>
          <a:noFill/>
          <a:ln/>
        </p:spPr>
        <p:txBody>
          <a:bodyPr wrap="square" lIns="0" tIns="0" rIns="0" bIns="0" rtlCol="0" anchor="t">
            <a:spAutoFit/>
          </a:bodyPr>
          <a:lstStyle/>
          <a:p>
            <a:pPr algn="l" indent="0" marL="0">
              <a:buNone/>
            </a:pPr>
            <a:r>
              <a:rPr lang="en-US" sz="600" dirty="0">
                <a:solidFill>
                  <a:srgbClr val="E11D48"/>
                </a:solidFill>
                <a:latin typeface="Roboto Mono Bold" pitchFamily="34" charset="0"/>
                <a:ea typeface="Roboto Mono Bold" pitchFamily="34" charset="-122"/>
                <a:cs typeface="Roboto Mono Bold" pitchFamily="34" charset="-120"/>
              </a:rPr>
              <a:t>ISSUE_01: EMPLOYMENT</a:t>
            </a:r>
            <a:endParaRPr lang="en-US" sz="600" dirty="0"/>
          </a:p>
        </p:txBody>
      </p:sp>
      <p:sp>
        <p:nvSpPr>
          <p:cNvPr id="8" name="Text 4"/>
          <p:cNvSpPr/>
          <p:nvPr/>
        </p:nvSpPr>
        <p:spPr>
          <a:xfrm>
            <a:off x="442913" y="601861"/>
            <a:ext cx="2462222" cy="232172"/>
          </a:xfrm>
          <a:prstGeom prst="rect">
            <a:avLst/>
          </a:prstGeom>
          <a:noFill/>
          <a:ln/>
        </p:spPr>
        <p:txBody>
          <a:bodyPr wrap="square" lIns="0" tIns="42545"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Gig Precarity</a:t>
            </a:r>
            <a:endParaRPr lang="en-US" sz="1000" dirty="0"/>
          </a:p>
        </p:txBody>
      </p:sp>
      <p:sp>
        <p:nvSpPr>
          <p:cNvPr id="9" name="Text 5"/>
          <p:cNvSpPr/>
          <p:nvPr/>
        </p:nvSpPr>
        <p:spPr>
          <a:xfrm>
            <a:off x="442913" y="941189"/>
            <a:ext cx="2462222"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A1A1AA"/>
                </a:solidFill>
                <a:latin typeface="Inter" pitchFamily="34" charset="0"/>
                <a:ea typeface="Inter" pitchFamily="34" charset="-122"/>
                <a:cs typeface="Inter" pitchFamily="34" charset="-120"/>
              </a:rPr>
              <a:t>Virtual environments exacerbate unstable employment, where workers lack traditional benefits and face increased exploitation.</a:t>
            </a:r>
            <a:endParaRPr lang="en-US" sz="850" dirty="0"/>
          </a:p>
        </p:txBody>
      </p:sp>
      <p:sp>
        <p:nvSpPr>
          <p:cNvPr id="10" name="Shape 6"/>
          <p:cNvSpPr/>
          <p:nvPr/>
        </p:nvSpPr>
        <p:spPr>
          <a:xfrm>
            <a:off x="442913" y="1598414"/>
            <a:ext cx="2462222" cy="1187648"/>
          </a:xfrm>
          <a:prstGeom prst="rect">
            <a:avLst/>
          </a:prstGeom>
          <a:solidFill>
            <a:srgbClr val="000000"/>
          </a:solidFill>
          <a:ln w="9144">
            <a:solidFill>
              <a:srgbClr val="00FF41"/>
            </a:solidFill>
            <a:prstDash val="solid"/>
          </a:ln>
        </p:spPr>
      </p:sp>
      <p:pic>
        <p:nvPicPr>
          <p:cNvPr id="11" name="Image 1" descr="preencoded.png">    </p:cNvPr>
          <p:cNvPicPr>
            <a:picLocks noChangeAspect="1"/>
          </p:cNvPicPr>
          <p:nvPr/>
        </p:nvPicPr>
        <p:blipFill>
          <a:blip r:embed="rId2"/>
          <a:stretch>
            <a:fillRect/>
          </a:stretch>
        </p:blipFill>
        <p:spPr>
          <a:xfrm>
            <a:off x="478631" y="1634133"/>
            <a:ext cx="2390784" cy="1071563"/>
          </a:xfrm>
          <a:prstGeom prst="rect">
            <a:avLst/>
          </a:prstGeom>
        </p:spPr>
      </p:pic>
      <p:sp>
        <p:nvSpPr>
          <p:cNvPr id="12" name="Text 7"/>
          <p:cNvSpPr/>
          <p:nvPr/>
        </p:nvSpPr>
        <p:spPr>
          <a:xfrm>
            <a:off x="3340903" y="417909"/>
            <a:ext cx="2462222" cy="112514"/>
          </a:xfrm>
          <a:prstGeom prst="rect">
            <a:avLst/>
          </a:prstGeom>
          <a:noFill/>
          <a:ln/>
        </p:spPr>
        <p:txBody>
          <a:bodyPr wrap="square" lIns="0" tIns="0" rIns="0" bIns="0" rtlCol="0" anchor="t">
            <a:spAutoFit/>
          </a:bodyPr>
          <a:lstStyle/>
          <a:p>
            <a:pPr algn="l" indent="0" marL="0">
              <a:buNone/>
            </a:pPr>
            <a:r>
              <a:rPr lang="en-US" sz="600" dirty="0">
                <a:solidFill>
                  <a:srgbClr val="E11D48"/>
                </a:solidFill>
                <a:latin typeface="Roboto Mono Bold" pitchFamily="34" charset="0"/>
                <a:ea typeface="Roboto Mono Bold" pitchFamily="34" charset="-122"/>
                <a:cs typeface="Roboto Mono Bold" pitchFamily="34" charset="-120"/>
              </a:rPr>
              <a:t>ISSUE_02: OPERATIONS</a:t>
            </a:r>
            <a:endParaRPr lang="en-US" sz="600" dirty="0"/>
          </a:p>
        </p:txBody>
      </p:sp>
      <p:sp>
        <p:nvSpPr>
          <p:cNvPr id="13" name="Text 8"/>
          <p:cNvSpPr/>
          <p:nvPr/>
        </p:nvSpPr>
        <p:spPr>
          <a:xfrm>
            <a:off x="3340903" y="601861"/>
            <a:ext cx="2462222" cy="232172"/>
          </a:xfrm>
          <a:prstGeom prst="rect">
            <a:avLst/>
          </a:prstGeom>
          <a:noFill/>
          <a:ln/>
        </p:spPr>
        <p:txBody>
          <a:bodyPr wrap="square" lIns="0" tIns="42545"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Moderation</a:t>
            </a:r>
            <a:endParaRPr lang="en-US" sz="1000" dirty="0"/>
          </a:p>
        </p:txBody>
      </p:sp>
      <p:sp>
        <p:nvSpPr>
          <p:cNvPr id="14" name="Text 9"/>
          <p:cNvSpPr/>
          <p:nvPr/>
        </p:nvSpPr>
        <p:spPr>
          <a:xfrm>
            <a:off x="3340903" y="941189"/>
            <a:ext cx="2462222"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A1A1AA"/>
                </a:solidFill>
                <a:latin typeface="Inter" pitchFamily="34" charset="0"/>
                <a:ea typeface="Inter" pitchFamily="34" charset="-122"/>
                <a:cs typeface="Inter" pitchFamily="34" charset="-120"/>
              </a:rPr>
              <a:t>Outsourced labor forces handle high-stress content moderation under poor conditions, often hidden from the public eye.</a:t>
            </a:r>
            <a:endParaRPr lang="en-US" sz="850" dirty="0"/>
          </a:p>
        </p:txBody>
      </p:sp>
      <p:sp>
        <p:nvSpPr>
          <p:cNvPr id="15" name="Shape 10"/>
          <p:cNvSpPr/>
          <p:nvPr/>
        </p:nvSpPr>
        <p:spPr>
          <a:xfrm>
            <a:off x="3340903" y="1598414"/>
            <a:ext cx="2462222" cy="1187648"/>
          </a:xfrm>
          <a:prstGeom prst="rect">
            <a:avLst/>
          </a:prstGeom>
          <a:solidFill>
            <a:srgbClr val="000000"/>
          </a:solidFill>
          <a:ln w="9144">
            <a:solidFill>
              <a:srgbClr val="00FF41"/>
            </a:solidFill>
            <a:prstDash val="solid"/>
          </a:ln>
        </p:spPr>
      </p:sp>
      <p:pic>
        <p:nvPicPr>
          <p:cNvPr id="16" name="Image 2" descr="preencoded.png">    </p:cNvPr>
          <p:cNvPicPr>
            <a:picLocks noChangeAspect="1"/>
          </p:cNvPicPr>
          <p:nvPr/>
        </p:nvPicPr>
        <p:blipFill>
          <a:blip r:embed="rId3"/>
          <a:stretch>
            <a:fillRect/>
          </a:stretch>
        </p:blipFill>
        <p:spPr>
          <a:xfrm>
            <a:off x="3376622" y="1634133"/>
            <a:ext cx="2390784" cy="1071563"/>
          </a:xfrm>
          <a:prstGeom prst="rect">
            <a:avLst/>
          </a:prstGeom>
        </p:spPr>
      </p:pic>
      <p:sp>
        <p:nvSpPr>
          <p:cNvPr id="17" name="Text 11"/>
          <p:cNvSpPr/>
          <p:nvPr/>
        </p:nvSpPr>
        <p:spPr>
          <a:xfrm>
            <a:off x="6238894" y="417909"/>
            <a:ext cx="2462222" cy="112514"/>
          </a:xfrm>
          <a:prstGeom prst="rect">
            <a:avLst/>
          </a:prstGeom>
          <a:noFill/>
          <a:ln/>
        </p:spPr>
        <p:txBody>
          <a:bodyPr wrap="square" lIns="0" tIns="0" rIns="0" bIns="0" rtlCol="0" anchor="t">
            <a:spAutoFit/>
          </a:bodyPr>
          <a:lstStyle/>
          <a:p>
            <a:pPr algn="l" indent="0" marL="0">
              <a:buNone/>
            </a:pPr>
            <a:r>
              <a:rPr lang="en-US" sz="600" dirty="0">
                <a:solidFill>
                  <a:srgbClr val="E11D48"/>
                </a:solidFill>
                <a:latin typeface="Roboto Mono Bold" pitchFamily="34" charset="0"/>
                <a:ea typeface="Roboto Mono Bold" pitchFamily="34" charset="-122"/>
                <a:cs typeface="Roboto Mono Bold" pitchFamily="34" charset="-120"/>
              </a:rPr>
              <a:t>ISSUE_03: RIGHTS</a:t>
            </a:r>
            <a:endParaRPr lang="en-US" sz="600" dirty="0"/>
          </a:p>
        </p:txBody>
      </p:sp>
      <p:sp>
        <p:nvSpPr>
          <p:cNvPr id="18" name="Text 12"/>
          <p:cNvSpPr/>
          <p:nvPr/>
        </p:nvSpPr>
        <p:spPr>
          <a:xfrm>
            <a:off x="6238894" y="601861"/>
            <a:ext cx="2462222" cy="232172"/>
          </a:xfrm>
          <a:prstGeom prst="rect">
            <a:avLst/>
          </a:prstGeom>
          <a:noFill/>
          <a:ln/>
        </p:spPr>
        <p:txBody>
          <a:bodyPr wrap="square" lIns="0" tIns="42545"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Unionization</a:t>
            </a:r>
            <a:endParaRPr lang="en-US" sz="1000" dirty="0"/>
          </a:p>
        </p:txBody>
      </p:sp>
      <p:sp>
        <p:nvSpPr>
          <p:cNvPr id="19" name="Text 13"/>
          <p:cNvSpPr/>
          <p:nvPr/>
        </p:nvSpPr>
        <p:spPr>
          <a:xfrm>
            <a:off x="6238894" y="941189"/>
            <a:ext cx="2462222"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A1A1AA"/>
                </a:solidFill>
                <a:latin typeface="Inter" pitchFamily="34" charset="0"/>
                <a:ea typeface="Inter" pitchFamily="34" charset="-122"/>
                <a:cs typeface="Inter" pitchFamily="34" charset="-120"/>
              </a:rPr>
              <a:t>Collective bargaining faces new hurdles in virtual spaces where physical proximity and traditional labor laws are absent.</a:t>
            </a:r>
            <a:endParaRPr lang="en-US" sz="850" dirty="0"/>
          </a:p>
        </p:txBody>
      </p:sp>
      <p:sp>
        <p:nvSpPr>
          <p:cNvPr id="20" name="Text 14"/>
          <p:cNvSpPr/>
          <p:nvPr/>
        </p:nvSpPr>
        <p:spPr>
          <a:xfrm>
            <a:off x="6238894" y="1598414"/>
            <a:ext cx="2462222" cy="494705"/>
          </a:xfrm>
          <a:prstGeom prst="rect">
            <a:avLst/>
          </a:prstGeom>
          <a:noFill/>
          <a:ln/>
        </p:spPr>
        <p:txBody>
          <a:bodyPr wrap="square" lIns="85090" tIns="85090" rIns="85090" bIns="85090" rtlCol="0" anchor="t">
            <a:spAutoFit/>
          </a:bodyPr>
          <a:lstStyle/>
          <a:p>
            <a:pPr algn="l" indent="0" marL="0">
              <a:buNone/>
            </a:pPr>
            <a:r>
              <a:rPr lang="en-US" sz="600" dirty="0">
                <a:solidFill>
                  <a:srgbClr val="E11D48"/>
                </a:solidFill>
                <a:latin typeface="Roboto Mono Bold" pitchFamily="34" charset="0"/>
                <a:ea typeface="Roboto Mono Bold" pitchFamily="34" charset="-122"/>
                <a:cs typeface="Roboto Mono Bold" pitchFamily="34" charset="-120"/>
              </a:rPr>
              <a:t>&gt; [ALERT] UNION_BLOCK_DETECTED</a:t>
            </a:r>
            <a:r>
              <a:rPr lang="en-US" sz="600" dirty="0">
                <a:solidFill>
                  <a:srgbClr val="E11D48"/>
                </a:solidFill>
                <a:latin typeface="Roboto Mono Bold" pitchFamily="34" charset="0"/>
                <a:ea typeface="Roboto Mono Bold" pitchFamily="34" charset="-122"/>
                <a:cs typeface="Roboto Mono Bold" pitchFamily="34" charset="-120"/>
              </a:rPr>
              <a:t>
</a:t>
            </a:r>
            <a:r>
              <a:rPr lang="en-US" sz="600" dirty="0">
                <a:solidFill>
                  <a:srgbClr val="E11D48"/>
                </a:solidFill>
                <a:latin typeface="Roboto Mono Bold" pitchFamily="34" charset="0"/>
                <a:ea typeface="Roboto Mono Bold" pitchFamily="34" charset="-122"/>
                <a:cs typeface="Roboto Mono Bold" pitchFamily="34" charset="-120"/>
              </a:rPr>
              <a:t>&gt; [STATUS] RIGHTS_SUSPENDED</a:t>
            </a:r>
            <a:r>
              <a:rPr lang="en-US" sz="600" dirty="0">
                <a:solidFill>
                  <a:srgbClr val="E11D48"/>
                </a:solidFill>
                <a:latin typeface="Roboto Mono Bold" pitchFamily="34" charset="0"/>
                <a:ea typeface="Roboto Mono Bold" pitchFamily="34" charset="-122"/>
                <a:cs typeface="Roboto Mono Bold" pitchFamily="34" charset="-120"/>
              </a:rPr>
              <a:t>
</a:t>
            </a:r>
            <a:r>
              <a:rPr lang="en-US" sz="600" dirty="0">
                <a:solidFill>
                  <a:srgbClr val="E11D48"/>
                </a:solidFill>
                <a:latin typeface="Roboto Mono Bold" pitchFamily="34" charset="0"/>
                <a:ea typeface="Roboto Mono Bold" pitchFamily="34" charset="-122"/>
                <a:cs typeface="Roboto Mono Bold" pitchFamily="34" charset="-120"/>
              </a:rPr>
              <a:t>&gt; [ACTION] UPDATE_LABOR_CODE</a:t>
            </a:r>
            <a:endParaRPr lang="en-US" sz="600" dirty="0"/>
          </a:p>
        </p:txBody>
      </p:sp>
      <p:sp>
        <p:nvSpPr>
          <p:cNvPr id="21" name="Shape 15"/>
          <p:cNvSpPr/>
          <p:nvPr/>
        </p:nvSpPr>
        <p:spPr>
          <a:xfrm>
            <a:off x="14288" y="4902398"/>
            <a:ext cx="9115425" cy="226814"/>
          </a:xfrm>
          <a:prstGeom prst="rect">
            <a:avLst/>
          </a:prstGeom>
          <a:solidFill>
            <a:srgbClr val="000000">
              <a:alpha val="0"/>
            </a:srgbClr>
          </a:solidFill>
          <a:ln/>
        </p:spPr>
      </p:sp>
      <p:sp>
        <p:nvSpPr>
          <p:cNvPr id="22" name="Shape 16"/>
          <p:cNvSpPr/>
          <p:nvPr/>
        </p:nvSpPr>
        <p:spPr>
          <a:xfrm>
            <a:off x="14288" y="4902398"/>
            <a:ext cx="9115425" cy="7144"/>
          </a:xfrm>
          <a:prstGeom prst="rect">
            <a:avLst/>
          </a:prstGeom>
          <a:solidFill>
            <a:srgbClr val="333333"/>
          </a:solidFill>
          <a:ln/>
        </p:spPr>
      </p:sp>
      <p:sp>
        <p:nvSpPr>
          <p:cNvPr id="23" name="Text 17"/>
          <p:cNvSpPr/>
          <p:nvPr/>
        </p:nvSpPr>
        <p:spPr>
          <a:xfrm>
            <a:off x="14288" y="4902398"/>
            <a:ext cx="9115425" cy="226814"/>
          </a:xfrm>
          <a:prstGeom prst="rect">
            <a:avLst/>
          </a:prstGeom>
          <a:noFill/>
          <a:ln/>
        </p:spPr>
        <p:txBody>
          <a:bodyPr wrap="square" lIns="510286" tIns="127508" rIns="0" bIns="0" rtlCol="0" anchor="t">
            <a:spAutoFit/>
          </a:bodyPr>
          <a:lstStyle/>
          <a:p>
            <a:pPr algn="l" indent="0" marL="0">
              <a:buNone/>
            </a:pPr>
            <a:r>
              <a:rPr lang="en-US" sz="600" dirty="0">
                <a:solidFill>
                  <a:srgbClr val="666666"/>
                </a:solidFill>
                <a:latin typeface="Roboto Mono Bold" pitchFamily="34" charset="0"/>
                <a:ea typeface="Roboto Mono Bold" pitchFamily="34" charset="-122"/>
                <a:cs typeface="Roboto Mono Bold" pitchFamily="34" charset="-120"/>
              </a:rPr>
              <a:t>[SECTION_03] // [LABOR_EXPLOITATION] // [PAGE_04]</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8" y="14288"/>
            <a:ext cx="9115425" cy="189309"/>
          </a:xfrm>
          <a:prstGeom prst="rect">
            <a:avLst/>
          </a:prstGeom>
          <a:solidFill>
            <a:srgbClr val="333333"/>
          </a:solidFill>
          <a:ln/>
        </p:spPr>
      </p:sp>
      <p:sp>
        <p:nvSpPr>
          <p:cNvPr id="5" name="Text 1"/>
          <p:cNvSpPr/>
          <p:nvPr/>
        </p:nvSpPr>
        <p:spPr>
          <a:xfrm>
            <a:off x="157163" y="71438"/>
            <a:ext cx="1700213" cy="132159"/>
          </a:xfrm>
          <a:prstGeom prst="rect">
            <a:avLst/>
          </a:prstGeom>
          <a:noFill/>
          <a:ln/>
        </p:spPr>
        <p:txBody>
          <a:bodyPr wrap="squar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FILE: data_extraction_v3.log</a:t>
            </a:r>
            <a:endParaRPr lang="en-US" sz="750" dirty="0"/>
          </a:p>
        </p:txBody>
      </p:sp>
      <p:sp>
        <p:nvSpPr>
          <p:cNvPr id="6" name="Text 2"/>
          <p:cNvSpPr/>
          <p:nvPr/>
        </p:nvSpPr>
        <p:spPr>
          <a:xfrm>
            <a:off x="7954566" y="71438"/>
            <a:ext cx="1032272" cy="132159"/>
          </a:xfrm>
          <a:prstGeom prst="rect">
            <a:avLst/>
          </a:prstGeom>
          <a:noFill/>
          <a:ln/>
        </p:spPr>
        <p:txBody>
          <a:bodyPr wrap="non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NODE: NYC_CORE_05</a:t>
            </a:r>
            <a:endParaRPr lang="en-US" sz="750" dirty="0"/>
          </a:p>
        </p:txBody>
      </p:sp>
      <p:sp>
        <p:nvSpPr>
          <p:cNvPr id="7" name="Text 3"/>
          <p:cNvSpPr/>
          <p:nvPr/>
        </p:nvSpPr>
        <p:spPr>
          <a:xfrm>
            <a:off x="442913" y="460772"/>
            <a:ext cx="2500313" cy="150019"/>
          </a:xfrm>
          <a:prstGeom prst="rect">
            <a:avLst/>
          </a:prstGeom>
          <a:noFill/>
          <a:ln/>
        </p:spPr>
        <p:txBody>
          <a:bodyPr wrap="square" lIns="0" tIns="0" rIns="0" bIns="0" rtlCol="0" anchor="t">
            <a:spAutoFit/>
          </a:bodyPr>
          <a:lstStyle/>
          <a:p>
            <a:pPr algn="l" indent="0" marL="0">
              <a:buNone/>
            </a:pPr>
            <a:r>
              <a:rPr lang="en-US" sz="850" dirty="0">
                <a:solidFill>
                  <a:srgbClr val="E11D48"/>
                </a:solidFill>
                <a:latin typeface="Roboto Mono Bold" pitchFamily="34" charset="0"/>
                <a:ea typeface="Roboto Mono Bold" pitchFamily="34" charset="-122"/>
                <a:cs typeface="Roboto Mono Bold" pitchFamily="34" charset="-120"/>
              </a:rPr>
              <a:t>root@nyc_node:~#</a:t>
            </a:r>
            <a:r>
              <a:rPr lang="en-US" sz="850" dirty="0">
                <a:solidFill>
                  <a:srgbClr val="00FF41"/>
                </a:solidFill>
                <a:latin typeface="Roboto Mono Bold" pitchFamily="34" charset="0"/>
                <a:ea typeface="Roboto Mono Bold" pitchFamily="34" charset="-122"/>
                <a:cs typeface="Roboto Mono Bold" pitchFamily="34" charset="-120"/>
              </a:rPr>
              <a:t> ./deep_scan</a:t>
            </a:r>
            <a:endParaRPr lang="en-US" sz="850" dirty="0"/>
          </a:p>
        </p:txBody>
      </p:sp>
      <p:sp>
        <p:nvSpPr>
          <p:cNvPr id="8" name="Text 4"/>
          <p:cNvSpPr/>
          <p:nvPr/>
        </p:nvSpPr>
        <p:spPr>
          <a:xfrm>
            <a:off x="521494" y="803672"/>
            <a:ext cx="2343150" cy="339328"/>
          </a:xfrm>
          <a:prstGeom prst="rect">
            <a:avLst/>
          </a:prstGeom>
          <a:noFill/>
          <a:ln/>
        </p:spPr>
        <p:txBody>
          <a:bodyPr wrap="square" lIns="0" tIns="0" rIns="0" bIns="0" rtlCol="0" anchor="t">
            <a:spAutoFit/>
          </a:bodyPr>
          <a:lstStyle/>
          <a:p>
            <a:pPr algn="ctr" indent="0" marL="0">
              <a:buNone/>
            </a:pPr>
            <a:r>
              <a:rPr lang="en-US" sz="1900" dirty="0">
                <a:solidFill>
                  <a:srgbClr val="E11D48"/>
                </a:solidFill>
                <a:latin typeface="Roboto Mono Bold" pitchFamily="34" charset="0"/>
                <a:ea typeface="Roboto Mono Bold" pitchFamily="34" charset="-122"/>
                <a:cs typeface="Roboto Mono Bold" pitchFamily="34" charset="-120"/>
              </a:rPr>
              <a:t>20M+</a:t>
            </a:r>
            <a:endParaRPr lang="en-US" sz="1900" dirty="0"/>
          </a:p>
        </p:txBody>
      </p:sp>
      <p:sp>
        <p:nvSpPr>
          <p:cNvPr id="9" name="Text 5"/>
          <p:cNvSpPr/>
          <p:nvPr/>
        </p:nvSpPr>
        <p:spPr>
          <a:xfrm>
            <a:off x="521494" y="1143000"/>
            <a:ext cx="2343150" cy="103584"/>
          </a:xfrm>
          <a:prstGeom prst="rect">
            <a:avLst/>
          </a:prstGeom>
          <a:noFill/>
          <a:ln/>
        </p:spPr>
        <p:txBody>
          <a:bodyPr wrap="square" lIns="0" tIns="0" rIns="0" bIns="0" rtlCol="0" anchor="t">
            <a:spAutoFit/>
          </a:bodyPr>
          <a:lstStyle/>
          <a:p>
            <a:pPr algn="ctr" indent="0" marL="0">
              <a:buNone/>
            </a:pPr>
            <a:r>
              <a:rPr lang="en-US" sz="550" dirty="0">
                <a:solidFill>
                  <a:srgbClr val="A1A1AA"/>
                </a:solidFill>
                <a:latin typeface="Roboto Mono Bold" pitchFamily="34" charset="0"/>
                <a:ea typeface="Roboto Mono Bold" pitchFamily="34" charset="-122"/>
                <a:cs typeface="Roboto Mono Bold" pitchFamily="34" charset="-120"/>
              </a:rPr>
              <a:t>DATA POINTS / 20 MIN</a:t>
            </a:r>
            <a:endParaRPr lang="en-US" sz="550" dirty="0"/>
          </a:p>
        </p:txBody>
      </p:sp>
      <p:sp>
        <p:nvSpPr>
          <p:cNvPr id="10" name="Shape 6"/>
          <p:cNvSpPr/>
          <p:nvPr/>
        </p:nvSpPr>
        <p:spPr>
          <a:xfrm>
            <a:off x="442913" y="1432322"/>
            <a:ext cx="2500313" cy="1044773"/>
          </a:xfrm>
          <a:prstGeom prst="rect">
            <a:avLst/>
          </a:prstGeom>
          <a:solidFill>
            <a:srgbClr val="000000"/>
          </a:solidFill>
          <a:ln w="9144">
            <a:solidFill>
              <a:srgbClr val="00FF41"/>
            </a:solidFill>
            <a:prstDash val="solid"/>
          </a:ln>
        </p:spPr>
      </p:sp>
      <p:pic>
        <p:nvPicPr>
          <p:cNvPr id="11" name="Image 1" descr="preencoded.png">    </p:cNvPr>
          <p:cNvPicPr>
            <a:picLocks noChangeAspect="1"/>
          </p:cNvPicPr>
          <p:nvPr/>
        </p:nvPicPr>
        <p:blipFill>
          <a:blip r:embed="rId2"/>
          <a:stretch>
            <a:fillRect/>
          </a:stretch>
        </p:blipFill>
        <p:spPr>
          <a:xfrm>
            <a:off x="478631" y="1468041"/>
            <a:ext cx="2428875" cy="928688"/>
          </a:xfrm>
          <a:prstGeom prst="rect">
            <a:avLst/>
          </a:prstGeom>
        </p:spPr>
      </p:pic>
      <p:sp>
        <p:nvSpPr>
          <p:cNvPr id="12" name="Text 7"/>
          <p:cNvSpPr/>
          <p:nvPr/>
        </p:nvSpPr>
        <p:spPr>
          <a:xfrm>
            <a:off x="442913" y="2519958"/>
            <a:ext cx="2500313" cy="121444"/>
          </a:xfrm>
          <a:prstGeom prst="rect">
            <a:avLst/>
          </a:prstGeom>
          <a:noFill/>
          <a:ln/>
        </p:spPr>
        <p:txBody>
          <a:bodyPr wrap="square" lIns="0" tIns="0" rIns="0" bIns="0" rtlCol="0" anchor="t">
            <a:spAutoFit/>
          </a:bodyPr>
          <a:lstStyle/>
          <a:p>
            <a:pPr algn="l" indent="0" marL="0">
              <a:buNone/>
            </a:pPr>
            <a:r>
              <a:rPr lang="en-US" sz="650" dirty="0">
                <a:solidFill>
                  <a:srgbClr val="00FF41"/>
                </a:solidFill>
                <a:latin typeface="Roboto Mono Bold" pitchFamily="34" charset="0"/>
                <a:ea typeface="Roboto Mono Bold" pitchFamily="34" charset="-122"/>
                <a:cs typeface="Roboto Mono Bold" pitchFamily="34" charset="-120"/>
              </a:rPr>
              <a:t>PUPIL_DILATION_LOGGED</a:t>
            </a:r>
            <a:endParaRPr lang="en-US" sz="650" dirty="0"/>
          </a:p>
        </p:txBody>
      </p:sp>
      <p:sp>
        <p:nvSpPr>
          <p:cNvPr id="13" name="Text 8"/>
          <p:cNvSpPr/>
          <p:nvPr/>
        </p:nvSpPr>
        <p:spPr>
          <a:xfrm>
            <a:off x="442913" y="2641402"/>
            <a:ext cx="2500313" cy="121444"/>
          </a:xfrm>
          <a:prstGeom prst="rect">
            <a:avLst/>
          </a:prstGeom>
          <a:noFill/>
          <a:ln/>
        </p:spPr>
        <p:txBody>
          <a:bodyPr wrap="square" lIns="0" tIns="0" rIns="0" bIns="0" rtlCol="0" anchor="t">
            <a:spAutoFit/>
          </a:bodyPr>
          <a:lstStyle/>
          <a:p>
            <a:pPr algn="l" indent="0" marL="0">
              <a:buNone/>
            </a:pPr>
            <a:r>
              <a:rPr lang="en-US" sz="650" dirty="0">
                <a:solidFill>
                  <a:srgbClr val="00FF41"/>
                </a:solidFill>
                <a:latin typeface="Roboto Mono Bold" pitchFamily="34" charset="0"/>
                <a:ea typeface="Roboto Mono Bold" pitchFamily="34" charset="-122"/>
                <a:cs typeface="Roboto Mono Bold" pitchFamily="34" charset="-120"/>
              </a:rPr>
              <a:t>GAZE_DWELL_TIME_TRACKED</a:t>
            </a:r>
            <a:endParaRPr lang="en-US" sz="650" dirty="0"/>
          </a:p>
        </p:txBody>
      </p:sp>
      <p:sp>
        <p:nvSpPr>
          <p:cNvPr id="14" name="Text 9"/>
          <p:cNvSpPr/>
          <p:nvPr/>
        </p:nvSpPr>
        <p:spPr>
          <a:xfrm>
            <a:off x="442913" y="2762845"/>
            <a:ext cx="2500313" cy="121444"/>
          </a:xfrm>
          <a:prstGeom prst="rect">
            <a:avLst/>
          </a:prstGeom>
          <a:noFill/>
          <a:ln/>
        </p:spPr>
        <p:txBody>
          <a:bodyPr wrap="square" lIns="0" tIns="0" rIns="0" bIns="0" rtlCol="0" anchor="t">
            <a:spAutoFit/>
          </a:bodyPr>
          <a:lstStyle/>
          <a:p>
            <a:pPr algn="l" indent="0" marL="0">
              <a:buNone/>
            </a:pPr>
            <a:r>
              <a:rPr lang="en-US" sz="650" dirty="0">
                <a:solidFill>
                  <a:srgbClr val="00FF41"/>
                </a:solidFill>
                <a:latin typeface="Roboto Mono Bold" pitchFamily="34" charset="0"/>
                <a:ea typeface="Roboto Mono Bold" pitchFamily="34" charset="-122"/>
                <a:cs typeface="Roboto Mono Bold" pitchFamily="34" charset="-120"/>
              </a:rPr>
              <a:t>BODY_AS_INFORMATION_SOURCE</a:t>
            </a:r>
            <a:endParaRPr lang="en-US" sz="650" dirty="0"/>
          </a:p>
        </p:txBody>
      </p:sp>
      <p:sp>
        <p:nvSpPr>
          <p:cNvPr id="15" name="Text 10"/>
          <p:cNvSpPr/>
          <p:nvPr/>
        </p:nvSpPr>
        <p:spPr>
          <a:xfrm>
            <a:off x="3521869" y="453628"/>
            <a:ext cx="5179219" cy="189309"/>
          </a:xfrm>
          <a:prstGeom prst="rect">
            <a:avLst/>
          </a:prstGeom>
          <a:noFill/>
          <a:ln/>
        </p:spPr>
        <p:txBody>
          <a:bodyPr wrap="square" lIns="127508" tIns="0"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Kinematic Fingerprinting</a:t>
            </a:r>
            <a:endParaRPr lang="en-US" sz="1000" dirty="0"/>
          </a:p>
        </p:txBody>
      </p:sp>
      <p:sp>
        <p:nvSpPr>
          <p:cNvPr id="16" name="Text 11"/>
          <p:cNvSpPr/>
          <p:nvPr/>
        </p:nvSpPr>
        <p:spPr>
          <a:xfrm>
            <a:off x="3521869" y="700088"/>
            <a:ext cx="5179219"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A1A1AA"/>
                </a:solidFill>
                <a:latin typeface="Inter" pitchFamily="34" charset="0"/>
                <a:ea typeface="Inter" pitchFamily="34" charset="-122"/>
                <a:cs typeface="Inter" pitchFamily="34" charset="-120"/>
              </a:rPr>
              <a:t>VR headsets must track physical motion to function. Head and hand movement data can identify a user with high accuracy, turning the body itself into a source of information.</a:t>
            </a:r>
            <a:endParaRPr lang="en-US" sz="850" dirty="0"/>
          </a:p>
        </p:txBody>
      </p:sp>
      <p:sp>
        <p:nvSpPr>
          <p:cNvPr id="17" name="Text 12"/>
          <p:cNvSpPr/>
          <p:nvPr/>
        </p:nvSpPr>
        <p:spPr>
          <a:xfrm>
            <a:off x="3521869" y="1127261"/>
            <a:ext cx="5179219" cy="189309"/>
          </a:xfrm>
          <a:prstGeom prst="rect">
            <a:avLst/>
          </a:prstGeom>
          <a:noFill/>
          <a:ln/>
        </p:spPr>
        <p:txBody>
          <a:bodyPr wrap="square" lIns="127508" tIns="0"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Involuntary Bio-Feedback</a:t>
            </a:r>
            <a:endParaRPr lang="en-US" sz="1000" dirty="0"/>
          </a:p>
        </p:txBody>
      </p:sp>
      <p:sp>
        <p:nvSpPr>
          <p:cNvPr id="18" name="Text 13"/>
          <p:cNvSpPr/>
          <p:nvPr/>
        </p:nvSpPr>
        <p:spPr>
          <a:xfrm>
            <a:off x="3521869" y="1373721"/>
            <a:ext cx="5179219"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A1A1AA"/>
                </a:solidFill>
                <a:latin typeface="Inter" pitchFamily="34" charset="0"/>
                <a:ea typeface="Inter" pitchFamily="34" charset="-122"/>
                <a:cs typeface="Inter" pitchFamily="34" charset="-120"/>
              </a:rPr>
              <a:t>Sensors capture physiological responses that users cannot consciously control, revealing emotional states, focus levels, and behavioral data that is being harvested.</a:t>
            </a:r>
            <a:endParaRPr lang="en-US" sz="850" dirty="0"/>
          </a:p>
        </p:txBody>
      </p:sp>
      <p:sp>
        <p:nvSpPr>
          <p:cNvPr id="19" name="Text 14"/>
          <p:cNvSpPr/>
          <p:nvPr/>
        </p:nvSpPr>
        <p:spPr>
          <a:xfrm>
            <a:off x="3521869" y="1800895"/>
            <a:ext cx="5179219" cy="189309"/>
          </a:xfrm>
          <a:prstGeom prst="rect">
            <a:avLst/>
          </a:prstGeom>
          <a:noFill/>
          <a:ln/>
        </p:spPr>
        <p:txBody>
          <a:bodyPr wrap="square" lIns="127508" tIns="0"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The 'Always-On' Panopticon</a:t>
            </a:r>
            <a:endParaRPr lang="en-US" sz="1000" dirty="0"/>
          </a:p>
        </p:txBody>
      </p:sp>
      <p:sp>
        <p:nvSpPr>
          <p:cNvPr id="20" name="Text 15"/>
          <p:cNvSpPr/>
          <p:nvPr/>
        </p:nvSpPr>
        <p:spPr>
          <a:xfrm>
            <a:off x="3521869" y="2047354"/>
            <a:ext cx="5179219"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A1A1AA"/>
                </a:solidFill>
                <a:latin typeface="Inter" pitchFamily="34" charset="0"/>
                <a:ea typeface="Inter" pitchFamily="34" charset="-122"/>
                <a:cs typeface="Inter" pitchFamily="34" charset="-120"/>
              </a:rPr>
              <a:t>The power imbalance strengthens because technology collects more information than ever before. Movements, attention, and behavior are now data points for corporate control.</a:t>
            </a:r>
            <a:endParaRPr lang="en-US" sz="850" dirty="0"/>
          </a:p>
        </p:txBody>
      </p:sp>
      <p:sp>
        <p:nvSpPr>
          <p:cNvPr id="21" name="Shape 16"/>
          <p:cNvSpPr/>
          <p:nvPr/>
        </p:nvSpPr>
        <p:spPr>
          <a:xfrm>
            <a:off x="3521869" y="2474528"/>
            <a:ext cx="5179219" cy="400050"/>
          </a:xfrm>
          <a:prstGeom prst="rect">
            <a:avLst/>
          </a:prstGeom>
          <a:solidFill>
            <a:srgbClr val="E11D48">
              <a:alpha val="10000"/>
            </a:srgbClr>
          </a:solidFill>
          <a:ln w="9144">
            <a:solidFill>
              <a:srgbClr val="E11D48"/>
            </a:solidFill>
            <a:prstDash val="dash"/>
          </a:ln>
        </p:spPr>
      </p:sp>
      <p:sp>
        <p:nvSpPr>
          <p:cNvPr id="22" name="Text 17"/>
          <p:cNvSpPr/>
          <p:nvPr/>
        </p:nvSpPr>
        <p:spPr>
          <a:xfrm>
            <a:off x="3521869" y="2474528"/>
            <a:ext cx="5179219" cy="400050"/>
          </a:xfrm>
          <a:prstGeom prst="rect">
            <a:avLst/>
          </a:prstGeom>
          <a:noFill/>
          <a:ln/>
        </p:spPr>
        <p:txBody>
          <a:bodyPr wrap="square" lIns="85090" tIns="85090" rIns="85090" bIns="85090" rtlCol="0" anchor="t">
            <a:spAutoFit/>
          </a:bodyPr>
          <a:lstStyle/>
          <a:p>
            <a:pPr algn="l" indent="0" marL="0">
              <a:buNone/>
            </a:pPr>
            <a:r>
              <a:rPr lang="en-US" sz="650" dirty="0">
                <a:solidFill>
                  <a:srgbClr val="00FF41"/>
                </a:solidFill>
                <a:latin typeface="Roboto Mono Bold" pitchFamily="34" charset="0"/>
                <a:ea typeface="Roboto Mono Bold" pitchFamily="34" charset="-122"/>
                <a:cs typeface="Roboto Mono Bold" pitchFamily="34" charset="-120"/>
              </a:rPr>
              <a:t>&gt; [ANALYSIS] DATA_DENSITY: EXTREME</a:t>
            </a:r>
            <a:r>
              <a:rPr lang="en-US" sz="650" dirty="0">
                <a:solidFill>
                  <a:srgbClr val="00FF41"/>
                </a:solidFill>
                <a:latin typeface="Roboto Mono Bold" pitchFamily="34" charset="0"/>
                <a:ea typeface="Roboto Mono Bold" pitchFamily="34" charset="-122"/>
                <a:cs typeface="Roboto Mono Bold" pitchFamily="34" charset="-120"/>
              </a:rPr>
              <a:t>
</a:t>
            </a:r>
            <a:r>
              <a:rPr lang="en-US" sz="650" dirty="0">
                <a:solidFill>
                  <a:srgbClr val="00FF41"/>
                </a:solidFill>
                <a:latin typeface="Roboto Mono Bold" pitchFamily="34" charset="0"/>
                <a:ea typeface="Roboto Mono Bold" pitchFamily="34" charset="-122"/>
                <a:cs typeface="Roboto Mono Bold" pitchFamily="34" charset="-120"/>
              </a:rPr>
              <a:t>&gt; [IMPLICATION] BODY_DATA_HARVESTING_ACTIVE</a:t>
            </a:r>
            <a:endParaRPr lang="en-US" sz="650" dirty="0"/>
          </a:p>
        </p:txBody>
      </p:sp>
      <p:sp>
        <p:nvSpPr>
          <p:cNvPr id="23" name="Shape 18"/>
          <p:cNvSpPr/>
          <p:nvPr/>
        </p:nvSpPr>
        <p:spPr>
          <a:xfrm>
            <a:off x="14288" y="4938117"/>
            <a:ext cx="9115425" cy="191095"/>
          </a:xfrm>
          <a:prstGeom prst="rect">
            <a:avLst/>
          </a:prstGeom>
          <a:solidFill>
            <a:srgbClr val="000000">
              <a:alpha val="0"/>
            </a:srgbClr>
          </a:solidFill>
          <a:ln/>
        </p:spPr>
      </p:sp>
      <p:sp>
        <p:nvSpPr>
          <p:cNvPr id="24" name="Shape 19"/>
          <p:cNvSpPr/>
          <p:nvPr/>
        </p:nvSpPr>
        <p:spPr>
          <a:xfrm>
            <a:off x="14288" y="4938117"/>
            <a:ext cx="9115425" cy="7144"/>
          </a:xfrm>
          <a:prstGeom prst="rect">
            <a:avLst/>
          </a:prstGeom>
          <a:solidFill>
            <a:srgbClr val="333333"/>
          </a:solidFill>
          <a:ln/>
        </p:spPr>
      </p:sp>
      <p:sp>
        <p:nvSpPr>
          <p:cNvPr id="25" name="Text 20"/>
          <p:cNvSpPr/>
          <p:nvPr/>
        </p:nvSpPr>
        <p:spPr>
          <a:xfrm>
            <a:off x="14288" y="4938117"/>
            <a:ext cx="9115425" cy="191095"/>
          </a:xfrm>
          <a:prstGeom prst="rect">
            <a:avLst/>
          </a:prstGeom>
          <a:noFill/>
          <a:ln/>
        </p:spPr>
        <p:txBody>
          <a:bodyPr wrap="square" lIns="510286" tIns="85090" rIns="0" bIns="0" rtlCol="0" anchor="t">
            <a:spAutoFit/>
          </a:bodyPr>
          <a:lstStyle/>
          <a:p>
            <a:pPr algn="l" indent="0" marL="0">
              <a:buNone/>
            </a:pPr>
            <a:r>
              <a:rPr lang="en-US" sz="600" dirty="0">
                <a:solidFill>
                  <a:srgbClr val="666666"/>
                </a:solidFill>
                <a:latin typeface="Roboto Mono Bold" pitchFamily="34" charset="0"/>
                <a:ea typeface="Roboto Mono Bold" pitchFamily="34" charset="-122"/>
                <a:cs typeface="Roboto Mono Bold" pitchFamily="34" charset="-120"/>
              </a:rPr>
              <a:t>[SECTION_04] // [DEEP_DATA_EXTRACTION] // [PAGE_05]</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8" y="14288"/>
            <a:ext cx="9115425" cy="189309"/>
          </a:xfrm>
          <a:prstGeom prst="rect">
            <a:avLst/>
          </a:prstGeom>
          <a:solidFill>
            <a:srgbClr val="333333"/>
          </a:solidFill>
          <a:ln/>
        </p:spPr>
      </p:sp>
      <p:sp>
        <p:nvSpPr>
          <p:cNvPr id="5" name="Text 1"/>
          <p:cNvSpPr/>
          <p:nvPr/>
        </p:nvSpPr>
        <p:spPr>
          <a:xfrm>
            <a:off x="157163" y="71438"/>
            <a:ext cx="1639491" cy="132159"/>
          </a:xfrm>
          <a:prstGeom prst="rect">
            <a:avLst/>
          </a:prstGeom>
          <a:noFill/>
          <a:ln/>
        </p:spPr>
        <p:txBody>
          <a:bodyPr wrap="squar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FILE: privacy_deep_dive.log</a:t>
            </a:r>
            <a:endParaRPr lang="en-US" sz="750" dirty="0"/>
          </a:p>
        </p:txBody>
      </p:sp>
      <p:sp>
        <p:nvSpPr>
          <p:cNvPr id="6" name="Text 2"/>
          <p:cNvSpPr/>
          <p:nvPr/>
        </p:nvSpPr>
        <p:spPr>
          <a:xfrm>
            <a:off x="7954566" y="71438"/>
            <a:ext cx="1032272" cy="132159"/>
          </a:xfrm>
          <a:prstGeom prst="rect">
            <a:avLst/>
          </a:prstGeom>
          <a:noFill/>
          <a:ln/>
        </p:spPr>
        <p:txBody>
          <a:bodyPr wrap="non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NODE: NYC_CORE_06</a:t>
            </a:r>
            <a:endParaRPr lang="en-US" sz="750" dirty="0"/>
          </a:p>
        </p:txBody>
      </p:sp>
      <p:sp>
        <p:nvSpPr>
          <p:cNvPr id="7" name="Text 3"/>
          <p:cNvSpPr/>
          <p:nvPr/>
        </p:nvSpPr>
        <p:spPr>
          <a:xfrm>
            <a:off x="442913" y="346472"/>
            <a:ext cx="4607719"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E11D48"/>
                </a:solidFill>
                <a:latin typeface="Inter" pitchFamily="34" charset="0"/>
                <a:ea typeface="Inter" pitchFamily="34" charset="-122"/>
                <a:cs typeface="Inter" pitchFamily="34" charset="-120"/>
              </a:rPr>
              <a:t>root@nyc_node:~#</a:t>
            </a:r>
            <a:r>
              <a:rPr lang="en-US" sz="850" dirty="0">
                <a:solidFill>
                  <a:srgbClr val="A1A1AA"/>
                </a:solidFill>
                <a:latin typeface="Inter" pitchFamily="34" charset="0"/>
                <a:ea typeface="Inter" pitchFamily="34" charset="-122"/>
                <a:cs typeface="Inter" pitchFamily="34" charset="-120"/>
              </a:rPr>
              <a:t> ./analyze_ethics</a:t>
            </a:r>
            <a:endParaRPr lang="en-US" sz="850" dirty="0"/>
          </a:p>
        </p:txBody>
      </p:sp>
      <p:sp>
        <p:nvSpPr>
          <p:cNvPr id="8" name="Shape 4"/>
          <p:cNvSpPr/>
          <p:nvPr/>
        </p:nvSpPr>
        <p:spPr>
          <a:xfrm>
            <a:off x="442913" y="729723"/>
            <a:ext cx="1275159" cy="117872"/>
          </a:xfrm>
          <a:prstGeom prst="rect">
            <a:avLst/>
          </a:prstGeom>
          <a:solidFill>
            <a:srgbClr val="E11D48"/>
          </a:solidFill>
          <a:ln/>
        </p:spPr>
      </p:sp>
      <p:sp>
        <p:nvSpPr>
          <p:cNvPr id="9" name="Text 5"/>
          <p:cNvSpPr/>
          <p:nvPr/>
        </p:nvSpPr>
        <p:spPr>
          <a:xfrm>
            <a:off x="442913" y="729723"/>
            <a:ext cx="1275159" cy="117872"/>
          </a:xfrm>
          <a:prstGeom prst="rect">
            <a:avLst/>
          </a:prstGeom>
          <a:noFill/>
          <a:ln/>
        </p:spPr>
        <p:txBody>
          <a:bodyPr wrap="none" lIns="68072" tIns="17018" rIns="68072" bIns="0" rtlCol="0" anchor="t">
            <a:spAutoFit/>
          </a:bodyPr>
          <a:lstStyle/>
          <a:p>
            <a:pPr algn="l" indent="0" marL="0">
              <a:buNone/>
            </a:pPr>
            <a:r>
              <a:rPr lang="en-US" sz="550" dirty="0">
                <a:solidFill>
                  <a:srgbClr val="FFFFFF"/>
                </a:solidFill>
                <a:latin typeface="Roboto Mono Bold" pitchFamily="34" charset="0"/>
                <a:ea typeface="Roboto Mono Bold" pitchFamily="34" charset="-122"/>
                <a:cs typeface="Roboto Mono Bold" pitchFamily="34" charset="-120"/>
              </a:rPr>
              <a:t>DILEMMA: INFORMED CONSENT</a:t>
            </a:r>
            <a:endParaRPr lang="en-US" sz="550" dirty="0"/>
          </a:p>
        </p:txBody>
      </p:sp>
      <p:sp>
        <p:nvSpPr>
          <p:cNvPr id="10" name="Text 6"/>
          <p:cNvSpPr/>
          <p:nvPr/>
        </p:nvSpPr>
        <p:spPr>
          <a:xfrm>
            <a:off x="442913" y="904745"/>
            <a:ext cx="4607719" cy="189309"/>
          </a:xfrm>
          <a:prstGeom prst="rect">
            <a:avLst/>
          </a:prstGeom>
          <a:noFill/>
          <a:ln/>
        </p:spPr>
        <p:txBody>
          <a:bodyPr wrap="square" lIns="0" tIns="0"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Coerced Participation</a:t>
            </a:r>
            <a:endParaRPr lang="en-US" sz="1000" dirty="0"/>
          </a:p>
        </p:txBody>
      </p:sp>
      <p:sp>
        <p:nvSpPr>
          <p:cNvPr id="11" name="Text 7"/>
          <p:cNvSpPr/>
          <p:nvPr/>
        </p:nvSpPr>
        <p:spPr>
          <a:xfrm>
            <a:off x="442913" y="1151204"/>
            <a:ext cx="4607719" cy="480027"/>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A1A1AA"/>
                </a:solidFill>
                <a:latin typeface="Inter" pitchFamily="34" charset="0"/>
                <a:ea typeface="Inter" pitchFamily="34" charset="-122"/>
                <a:cs typeface="Inter" pitchFamily="34" charset="-120"/>
              </a:rPr>
              <a:t>When VR is a job requirement, 'consent' is a legal fiction. Employees cannot opt-out of biometric tracking without risking their livelihood, creating a systemic power imbalance.</a:t>
            </a:r>
            <a:endParaRPr lang="en-US" sz="850" dirty="0"/>
          </a:p>
        </p:txBody>
      </p:sp>
      <p:sp>
        <p:nvSpPr>
          <p:cNvPr id="12" name="Shape 8"/>
          <p:cNvSpPr/>
          <p:nvPr/>
        </p:nvSpPr>
        <p:spPr>
          <a:xfrm>
            <a:off x="442913" y="1854473"/>
            <a:ext cx="1135856" cy="117872"/>
          </a:xfrm>
          <a:prstGeom prst="rect">
            <a:avLst/>
          </a:prstGeom>
          <a:solidFill>
            <a:srgbClr val="E11D48"/>
          </a:solidFill>
          <a:ln/>
        </p:spPr>
      </p:sp>
      <p:sp>
        <p:nvSpPr>
          <p:cNvPr id="13" name="Text 9"/>
          <p:cNvSpPr/>
          <p:nvPr/>
        </p:nvSpPr>
        <p:spPr>
          <a:xfrm>
            <a:off x="442913" y="1854473"/>
            <a:ext cx="1135856" cy="117872"/>
          </a:xfrm>
          <a:prstGeom prst="rect">
            <a:avLst/>
          </a:prstGeom>
          <a:noFill/>
          <a:ln/>
        </p:spPr>
        <p:txBody>
          <a:bodyPr wrap="none" lIns="68072" tIns="17018" rIns="68072" bIns="0" rtlCol="0" anchor="t">
            <a:spAutoFit/>
          </a:bodyPr>
          <a:lstStyle/>
          <a:p>
            <a:pPr algn="l" indent="0" marL="0">
              <a:buNone/>
            </a:pPr>
            <a:r>
              <a:rPr lang="en-US" sz="550" dirty="0">
                <a:solidFill>
                  <a:srgbClr val="FFFFFF"/>
                </a:solidFill>
                <a:latin typeface="Roboto Mono Bold" pitchFamily="34" charset="0"/>
                <a:ea typeface="Roboto Mono Bold" pitchFamily="34" charset="-122"/>
                <a:cs typeface="Roboto Mono Bold" pitchFamily="34" charset="-120"/>
              </a:rPr>
              <a:t>DILEMMA: SECONDARY USE</a:t>
            </a:r>
            <a:endParaRPr lang="en-US" sz="550" dirty="0"/>
          </a:p>
        </p:txBody>
      </p:sp>
      <p:sp>
        <p:nvSpPr>
          <p:cNvPr id="14" name="Text 10"/>
          <p:cNvSpPr/>
          <p:nvPr/>
        </p:nvSpPr>
        <p:spPr>
          <a:xfrm>
            <a:off x="442913" y="2029495"/>
            <a:ext cx="4607719" cy="189309"/>
          </a:xfrm>
          <a:prstGeom prst="rect">
            <a:avLst/>
          </a:prstGeom>
          <a:noFill/>
          <a:ln/>
        </p:spPr>
        <p:txBody>
          <a:bodyPr wrap="square" lIns="0" tIns="0"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The Insurance Threat</a:t>
            </a:r>
            <a:endParaRPr lang="en-US" sz="1000" dirty="0"/>
          </a:p>
        </p:txBody>
      </p:sp>
      <p:sp>
        <p:nvSpPr>
          <p:cNvPr id="15" name="Text 11"/>
          <p:cNvSpPr/>
          <p:nvPr/>
        </p:nvSpPr>
        <p:spPr>
          <a:xfrm>
            <a:off x="442913" y="2275954"/>
            <a:ext cx="4607719"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A1A1AA"/>
                </a:solidFill>
                <a:latin typeface="Inter" pitchFamily="34" charset="0"/>
                <a:ea typeface="Inter" pitchFamily="34" charset="-122"/>
                <a:cs typeface="Inter" pitchFamily="34" charset="-120"/>
              </a:rPr>
              <a:t>Biometric data collected for 'productivity' could be sold to health or life insurance companies to profile users based on involuntary physiological markers.</a:t>
            </a:r>
            <a:endParaRPr lang="en-US" sz="850" dirty="0"/>
          </a:p>
        </p:txBody>
      </p:sp>
      <p:sp>
        <p:nvSpPr>
          <p:cNvPr id="16" name="Shape 12"/>
          <p:cNvSpPr/>
          <p:nvPr/>
        </p:nvSpPr>
        <p:spPr>
          <a:xfrm>
            <a:off x="442913" y="2819214"/>
            <a:ext cx="950119" cy="117872"/>
          </a:xfrm>
          <a:prstGeom prst="rect">
            <a:avLst/>
          </a:prstGeom>
          <a:solidFill>
            <a:srgbClr val="E11D48"/>
          </a:solidFill>
          <a:ln/>
        </p:spPr>
      </p:sp>
      <p:sp>
        <p:nvSpPr>
          <p:cNvPr id="17" name="Text 13"/>
          <p:cNvSpPr/>
          <p:nvPr/>
        </p:nvSpPr>
        <p:spPr>
          <a:xfrm>
            <a:off x="442913" y="2819214"/>
            <a:ext cx="950119" cy="117872"/>
          </a:xfrm>
          <a:prstGeom prst="rect">
            <a:avLst/>
          </a:prstGeom>
          <a:noFill/>
          <a:ln/>
        </p:spPr>
        <p:txBody>
          <a:bodyPr wrap="none" lIns="68072" tIns="17018" rIns="68072" bIns="0" rtlCol="0" anchor="t">
            <a:spAutoFit/>
          </a:bodyPr>
          <a:lstStyle/>
          <a:p>
            <a:pPr algn="l" indent="0" marL="0">
              <a:buNone/>
            </a:pPr>
            <a:r>
              <a:rPr lang="en-US" sz="550" dirty="0">
                <a:solidFill>
                  <a:srgbClr val="FFFFFF"/>
                </a:solidFill>
                <a:latin typeface="Roboto Mono Bold" pitchFamily="34" charset="0"/>
                <a:ea typeface="Roboto Mono Bold" pitchFamily="34" charset="-122"/>
                <a:cs typeface="Roboto Mono Bold" pitchFamily="34" charset="-120"/>
              </a:rPr>
              <a:t>DILEMMA: OWNERSHIP</a:t>
            </a:r>
            <a:endParaRPr lang="en-US" sz="550" dirty="0"/>
          </a:p>
        </p:txBody>
      </p:sp>
      <p:sp>
        <p:nvSpPr>
          <p:cNvPr id="18" name="Text 14"/>
          <p:cNvSpPr/>
          <p:nvPr/>
        </p:nvSpPr>
        <p:spPr>
          <a:xfrm>
            <a:off x="442913" y="2994236"/>
            <a:ext cx="4607719" cy="189309"/>
          </a:xfrm>
          <a:prstGeom prst="rect">
            <a:avLst/>
          </a:prstGeom>
          <a:noFill/>
          <a:ln/>
        </p:spPr>
        <p:txBody>
          <a:bodyPr wrap="square" lIns="0" tIns="0"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Digital Self-Sovereignty</a:t>
            </a:r>
            <a:endParaRPr lang="en-US" sz="1000" dirty="0"/>
          </a:p>
        </p:txBody>
      </p:sp>
      <p:sp>
        <p:nvSpPr>
          <p:cNvPr id="19" name="Text 15"/>
          <p:cNvSpPr/>
          <p:nvPr/>
        </p:nvSpPr>
        <p:spPr>
          <a:xfrm>
            <a:off x="442913" y="3240695"/>
            <a:ext cx="4607719"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A1A1AA"/>
                </a:solidFill>
                <a:latin typeface="Inter" pitchFamily="34" charset="0"/>
                <a:ea typeface="Inter" pitchFamily="34" charset="-122"/>
                <a:cs typeface="Inter" pitchFamily="34" charset="-120"/>
              </a:rPr>
              <a:t>Who owns the 'digital twin' of your body? Current EULAs often grant platforms perpetual rights to your behavioral data and avatar likeness.</a:t>
            </a:r>
            <a:endParaRPr lang="en-US" sz="850" dirty="0"/>
          </a:p>
        </p:txBody>
      </p:sp>
      <p:sp>
        <p:nvSpPr>
          <p:cNvPr id="20" name="Text 16"/>
          <p:cNvSpPr/>
          <p:nvPr/>
        </p:nvSpPr>
        <p:spPr>
          <a:xfrm>
            <a:off x="5629275" y="346472"/>
            <a:ext cx="3071813"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E11D48"/>
                </a:solidFill>
                <a:latin typeface="Inter" pitchFamily="34" charset="0"/>
                <a:ea typeface="Inter" pitchFamily="34" charset="-122"/>
                <a:cs typeface="Inter" pitchFamily="34" charset="-120"/>
              </a:rPr>
              <a:t>root@nyc_node:~#</a:t>
            </a:r>
            <a:r>
              <a:rPr lang="en-US" sz="850" dirty="0">
                <a:solidFill>
                  <a:srgbClr val="A1A1AA"/>
                </a:solidFill>
                <a:latin typeface="Inter" pitchFamily="34" charset="0"/>
                <a:ea typeface="Inter" pitchFamily="34" charset="-122"/>
                <a:cs typeface="Inter" pitchFamily="34" charset="-120"/>
              </a:rPr>
              <a:t> view shield.jpg</a:t>
            </a:r>
            <a:endParaRPr lang="en-US" sz="850" dirty="0"/>
          </a:p>
        </p:txBody>
      </p:sp>
      <p:sp>
        <p:nvSpPr>
          <p:cNvPr id="21" name="Shape 17"/>
          <p:cNvSpPr/>
          <p:nvPr/>
        </p:nvSpPr>
        <p:spPr>
          <a:xfrm>
            <a:off x="5629275" y="613637"/>
            <a:ext cx="3071813" cy="1259086"/>
          </a:xfrm>
          <a:prstGeom prst="rect">
            <a:avLst/>
          </a:prstGeom>
          <a:solidFill>
            <a:srgbClr val="000000"/>
          </a:solidFill>
          <a:ln w="9144">
            <a:solidFill>
              <a:srgbClr val="00FF41"/>
            </a:solidFill>
            <a:prstDash val="solid"/>
          </a:ln>
        </p:spPr>
      </p:sp>
      <p:pic>
        <p:nvPicPr>
          <p:cNvPr id="22" name="Image 1" descr="preencoded.png">    </p:cNvPr>
          <p:cNvPicPr>
            <a:picLocks noChangeAspect="1"/>
          </p:cNvPicPr>
          <p:nvPr/>
        </p:nvPicPr>
        <p:blipFill>
          <a:blip r:embed="rId2"/>
          <a:stretch>
            <a:fillRect/>
          </a:stretch>
        </p:blipFill>
        <p:spPr>
          <a:xfrm>
            <a:off x="5664994" y="649356"/>
            <a:ext cx="3000375" cy="1143000"/>
          </a:xfrm>
          <a:prstGeom prst="rect">
            <a:avLst/>
          </a:prstGeom>
        </p:spPr>
      </p:pic>
      <p:sp>
        <p:nvSpPr>
          <p:cNvPr id="23" name="Shape 18"/>
          <p:cNvSpPr/>
          <p:nvPr/>
        </p:nvSpPr>
        <p:spPr>
          <a:xfrm>
            <a:off x="5629275" y="1965592"/>
            <a:ext cx="3071813" cy="607219"/>
          </a:xfrm>
          <a:prstGeom prst="rect">
            <a:avLst/>
          </a:prstGeom>
          <a:solidFill>
            <a:srgbClr val="000000"/>
          </a:solidFill>
          <a:ln w="9144">
            <a:solidFill>
              <a:srgbClr val="333333"/>
            </a:solidFill>
            <a:prstDash val="solid"/>
          </a:ln>
        </p:spPr>
      </p:sp>
      <p:sp>
        <p:nvSpPr>
          <p:cNvPr id="24" name="Text 19"/>
          <p:cNvSpPr/>
          <p:nvPr/>
        </p:nvSpPr>
        <p:spPr>
          <a:xfrm>
            <a:off x="5629275" y="1965592"/>
            <a:ext cx="3071813" cy="607219"/>
          </a:xfrm>
          <a:prstGeom prst="rect">
            <a:avLst/>
          </a:prstGeom>
          <a:noFill/>
          <a:ln/>
        </p:spPr>
        <p:txBody>
          <a:bodyPr wrap="square" lIns="85090" tIns="85090" rIns="85090" bIns="85090" rtlCol="0" anchor="t">
            <a:spAutoFit/>
          </a:bodyPr>
          <a:lstStyle/>
          <a:p>
            <a:pPr algn="l" indent="0" marL="0">
              <a:buNone/>
            </a:pPr>
            <a:r>
              <a:rPr lang="en-US" sz="600" dirty="0">
                <a:solidFill>
                  <a:srgbClr val="00FF41"/>
                </a:solidFill>
                <a:latin typeface="Roboto Mono Bold" pitchFamily="34" charset="0"/>
                <a:ea typeface="Roboto Mono Bold" pitchFamily="34" charset="-122"/>
                <a:cs typeface="Roboto Mono Bold" pitchFamily="34" charset="-120"/>
              </a:rPr>
              <a:t>&gt; [QUERY] DATA_RETENTION_PERIOD</a:t>
            </a:r>
            <a:r>
              <a:rPr lang="en-US" sz="600" dirty="0">
                <a:solidFill>
                  <a:srgbClr val="00FF41"/>
                </a:solidFill>
                <a:latin typeface="Roboto Mono Bold" pitchFamily="34" charset="0"/>
                <a:ea typeface="Roboto Mono Bold" pitchFamily="34" charset="-122"/>
                <a:cs typeface="Roboto Mono Bold" pitchFamily="34" charset="-120"/>
              </a:rPr>
              <a:t>
</a:t>
            </a:r>
            <a:r>
              <a:rPr lang="en-US" sz="600" dirty="0">
                <a:solidFill>
                  <a:srgbClr val="00FF41"/>
                </a:solidFill>
                <a:latin typeface="Roboto Mono Bold" pitchFamily="34" charset="0"/>
                <a:ea typeface="Roboto Mono Bold" pitchFamily="34" charset="-122"/>
                <a:cs typeface="Roboto Mono Bold" pitchFamily="34" charset="-120"/>
              </a:rPr>
              <a:t>&gt; [RESULT] INDEFINITE</a:t>
            </a:r>
            <a:r>
              <a:rPr lang="en-US" sz="600" dirty="0">
                <a:solidFill>
                  <a:srgbClr val="00FF41"/>
                </a:solidFill>
                <a:latin typeface="Roboto Mono Bold" pitchFamily="34" charset="0"/>
                <a:ea typeface="Roboto Mono Bold" pitchFamily="34" charset="-122"/>
                <a:cs typeface="Roboto Mono Bold" pitchFamily="34" charset="-120"/>
              </a:rPr>
              <a:t>
</a:t>
            </a:r>
            <a:r>
              <a:rPr lang="en-US" sz="600" dirty="0">
                <a:solidFill>
                  <a:srgbClr val="00FF41"/>
                </a:solidFill>
                <a:latin typeface="Roboto Mono Bold" pitchFamily="34" charset="0"/>
                <a:ea typeface="Roboto Mono Bold" pitchFamily="34" charset="-122"/>
                <a:cs typeface="Roboto Mono Bold" pitchFamily="34" charset="-120"/>
              </a:rPr>
              <a:t>&gt; [QUERY] USER_DELETION_RIGHTS</a:t>
            </a:r>
            <a:r>
              <a:rPr lang="en-US" sz="600" dirty="0">
                <a:solidFill>
                  <a:srgbClr val="00FF41"/>
                </a:solidFill>
                <a:latin typeface="Roboto Mono Bold" pitchFamily="34" charset="0"/>
                <a:ea typeface="Roboto Mono Bold" pitchFamily="34" charset="-122"/>
                <a:cs typeface="Roboto Mono Bold" pitchFamily="34" charset="-120"/>
              </a:rPr>
              <a:t>
</a:t>
            </a:r>
            <a:r>
              <a:rPr lang="en-US" sz="600" dirty="0">
                <a:solidFill>
                  <a:srgbClr val="00FF41"/>
                </a:solidFill>
                <a:latin typeface="Roboto Mono Bold" pitchFamily="34" charset="0"/>
                <a:ea typeface="Roboto Mono Bold" pitchFamily="34" charset="-122"/>
                <a:cs typeface="Roboto Mono Bold" pitchFamily="34" charset="-120"/>
              </a:rPr>
              <a:t>&gt; [RESULT] LIMITED_BY_PLATFORM_POLICY</a:t>
            </a:r>
            <a:endParaRPr lang="en-US" sz="600" dirty="0"/>
          </a:p>
        </p:txBody>
      </p:sp>
      <p:sp>
        <p:nvSpPr>
          <p:cNvPr id="25" name="Text 20"/>
          <p:cNvSpPr/>
          <p:nvPr/>
        </p:nvSpPr>
        <p:spPr>
          <a:xfrm>
            <a:off x="5629275" y="2629960"/>
            <a:ext cx="3071813" cy="239985"/>
          </a:xfrm>
          <a:prstGeom prst="rect">
            <a:avLst/>
          </a:prstGeom>
          <a:noFill/>
          <a:ln/>
        </p:spPr>
        <p:txBody>
          <a:bodyPr wrap="square" lIns="0" tIns="0" rIns="0" bIns="0" rtlCol="0" anchor="t">
            <a:spAutoFit/>
          </a:bodyPr>
          <a:lstStyle/>
          <a:p>
            <a:pPr algn="l" indent="0" marL="0">
              <a:lnSpc>
                <a:spcPct val="112000"/>
              </a:lnSpc>
              <a:buNone/>
            </a:pPr>
            <a:r>
              <a:rPr lang="en-US" sz="600" dirty="0">
                <a:solidFill>
                  <a:srgbClr val="E11D48"/>
                </a:solidFill>
                <a:latin typeface="Inter" pitchFamily="34" charset="0"/>
                <a:ea typeface="Inter" pitchFamily="34" charset="-122"/>
                <a:cs typeface="Inter" pitchFamily="34" charset="-120"/>
              </a:rPr>
              <a:t>"Privacy is not just about hiding; it's about the power to control your own narrative."</a:t>
            </a:r>
            <a:endParaRPr lang="en-US" sz="600" dirty="0"/>
          </a:p>
        </p:txBody>
      </p:sp>
      <p:sp>
        <p:nvSpPr>
          <p:cNvPr id="26" name="Shape 21"/>
          <p:cNvSpPr/>
          <p:nvPr/>
        </p:nvSpPr>
        <p:spPr>
          <a:xfrm>
            <a:off x="14288" y="4938117"/>
            <a:ext cx="9115425" cy="191095"/>
          </a:xfrm>
          <a:prstGeom prst="rect">
            <a:avLst/>
          </a:prstGeom>
          <a:solidFill>
            <a:srgbClr val="000000">
              <a:alpha val="0"/>
            </a:srgbClr>
          </a:solidFill>
          <a:ln/>
        </p:spPr>
      </p:sp>
      <p:sp>
        <p:nvSpPr>
          <p:cNvPr id="27" name="Shape 22"/>
          <p:cNvSpPr/>
          <p:nvPr/>
        </p:nvSpPr>
        <p:spPr>
          <a:xfrm>
            <a:off x="14288" y="4938117"/>
            <a:ext cx="9115425" cy="7144"/>
          </a:xfrm>
          <a:prstGeom prst="rect">
            <a:avLst/>
          </a:prstGeom>
          <a:solidFill>
            <a:srgbClr val="333333"/>
          </a:solidFill>
          <a:ln/>
        </p:spPr>
      </p:sp>
      <p:sp>
        <p:nvSpPr>
          <p:cNvPr id="28" name="Text 23"/>
          <p:cNvSpPr/>
          <p:nvPr/>
        </p:nvSpPr>
        <p:spPr>
          <a:xfrm>
            <a:off x="14288" y="4938117"/>
            <a:ext cx="9115425" cy="191095"/>
          </a:xfrm>
          <a:prstGeom prst="rect">
            <a:avLst/>
          </a:prstGeom>
          <a:noFill/>
          <a:ln/>
        </p:spPr>
        <p:txBody>
          <a:bodyPr wrap="square" lIns="510286" tIns="85090" rIns="0" bIns="0" rtlCol="0" anchor="t">
            <a:spAutoFit/>
          </a:bodyPr>
          <a:lstStyle/>
          <a:p>
            <a:pPr algn="l" indent="0" marL="0">
              <a:buNone/>
            </a:pPr>
            <a:r>
              <a:rPr lang="en-US" sz="600" dirty="0">
                <a:solidFill>
                  <a:srgbClr val="666666"/>
                </a:solidFill>
                <a:latin typeface="Roboto Mono Bold" pitchFamily="34" charset="0"/>
                <a:ea typeface="Roboto Mono Bold" pitchFamily="34" charset="-122"/>
                <a:cs typeface="Roboto Mono Bold" pitchFamily="34" charset="-120"/>
              </a:rPr>
              <a:t>[SECTION_05] // [ETHICAL_DEEP_DIVE] // [PAGE_06]</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8" y="14288"/>
            <a:ext cx="9115425" cy="189309"/>
          </a:xfrm>
          <a:prstGeom prst="rect">
            <a:avLst/>
          </a:prstGeom>
          <a:solidFill>
            <a:srgbClr val="333333"/>
          </a:solidFill>
          <a:ln/>
        </p:spPr>
      </p:sp>
      <p:sp>
        <p:nvSpPr>
          <p:cNvPr id="5" name="Text 1"/>
          <p:cNvSpPr/>
          <p:nvPr/>
        </p:nvSpPr>
        <p:spPr>
          <a:xfrm>
            <a:off x="157163" y="71438"/>
            <a:ext cx="1335881" cy="132159"/>
          </a:xfrm>
          <a:prstGeom prst="rect">
            <a:avLst/>
          </a:prstGeom>
          <a:noFill/>
          <a:ln/>
        </p:spPr>
        <p:txBody>
          <a:bodyPr wrap="squar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FILE: case_study_v3.sh</a:t>
            </a:r>
            <a:endParaRPr lang="en-US" sz="750" dirty="0"/>
          </a:p>
        </p:txBody>
      </p:sp>
      <p:sp>
        <p:nvSpPr>
          <p:cNvPr id="6" name="Text 2"/>
          <p:cNvSpPr/>
          <p:nvPr/>
        </p:nvSpPr>
        <p:spPr>
          <a:xfrm>
            <a:off x="7954566" y="71438"/>
            <a:ext cx="1032272" cy="132159"/>
          </a:xfrm>
          <a:prstGeom prst="rect">
            <a:avLst/>
          </a:prstGeom>
          <a:noFill/>
          <a:ln/>
        </p:spPr>
        <p:txBody>
          <a:bodyPr wrap="non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NODE: NYC_CORE_07</a:t>
            </a:r>
            <a:endParaRPr lang="en-US" sz="750" dirty="0"/>
          </a:p>
        </p:txBody>
      </p:sp>
      <p:sp>
        <p:nvSpPr>
          <p:cNvPr id="7" name="Text 3"/>
          <p:cNvSpPr/>
          <p:nvPr/>
        </p:nvSpPr>
        <p:spPr>
          <a:xfrm>
            <a:off x="442913" y="346472"/>
            <a:ext cx="3839766"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E11D48"/>
                </a:solidFill>
                <a:latin typeface="Inter" pitchFamily="34" charset="0"/>
                <a:ea typeface="Inter" pitchFamily="34" charset="-122"/>
                <a:cs typeface="Inter" pitchFamily="34" charset="-120"/>
              </a:rPr>
              <a:t>root@nyc_node:~#</a:t>
            </a:r>
            <a:r>
              <a:rPr lang="en-US" sz="850" dirty="0">
                <a:solidFill>
                  <a:srgbClr val="A1A1AA"/>
                </a:solidFill>
                <a:latin typeface="Inter" pitchFamily="34" charset="0"/>
                <a:ea typeface="Inter" pitchFamily="34" charset="-122"/>
                <a:cs typeface="Inter" pitchFamily="34" charset="-120"/>
              </a:rPr>
              <a:t> ./fetch_case_meta</a:t>
            </a:r>
            <a:endParaRPr lang="en-US" sz="850" dirty="0"/>
          </a:p>
        </p:txBody>
      </p:sp>
      <p:sp>
        <p:nvSpPr>
          <p:cNvPr id="8" name="Text 4"/>
          <p:cNvSpPr/>
          <p:nvPr/>
        </p:nvSpPr>
        <p:spPr>
          <a:xfrm>
            <a:off x="442913" y="506481"/>
            <a:ext cx="3839766" cy="103584"/>
          </a:xfrm>
          <a:prstGeom prst="rect">
            <a:avLst/>
          </a:prstGeom>
          <a:noFill/>
          <a:ln/>
        </p:spPr>
        <p:txBody>
          <a:bodyPr wrap="square" lIns="0" tIns="0" rIns="0" bIns="0" rtlCol="0" anchor="t">
            <a:spAutoFit/>
          </a:bodyPr>
          <a:lstStyle/>
          <a:p>
            <a:pPr algn="l" indent="0" marL="0">
              <a:buNone/>
            </a:pPr>
            <a:r>
              <a:rPr lang="en-US" sz="550" dirty="0">
                <a:solidFill>
                  <a:srgbClr val="E11D48"/>
                </a:solidFill>
                <a:latin typeface="Roboto Mono Bold" pitchFamily="34" charset="0"/>
                <a:ea typeface="Roboto Mono Bold" pitchFamily="34" charset="-122"/>
                <a:cs typeface="Roboto Mono Bold" pitchFamily="34" charset="-120"/>
              </a:rPr>
              <a:t>SUBJECT: BUSINESS EXPERIMENT</a:t>
            </a:r>
            <a:endParaRPr lang="en-US" sz="550" dirty="0"/>
          </a:p>
        </p:txBody>
      </p:sp>
      <p:sp>
        <p:nvSpPr>
          <p:cNvPr id="9" name="Text 5"/>
          <p:cNvSpPr/>
          <p:nvPr/>
        </p:nvSpPr>
        <p:spPr>
          <a:xfrm>
            <a:off x="442913" y="667215"/>
            <a:ext cx="3839766" cy="232172"/>
          </a:xfrm>
          <a:prstGeom prst="rect">
            <a:avLst/>
          </a:prstGeom>
          <a:noFill/>
          <a:ln/>
        </p:spPr>
        <p:txBody>
          <a:bodyPr wrap="square" lIns="0" tIns="42545"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Horizon Workrooms</a:t>
            </a:r>
            <a:endParaRPr lang="en-US" sz="1000" dirty="0"/>
          </a:p>
        </p:txBody>
      </p:sp>
      <p:sp>
        <p:nvSpPr>
          <p:cNvPr id="10" name="Text 6"/>
          <p:cNvSpPr/>
          <p:nvPr/>
        </p:nvSpPr>
        <p:spPr>
          <a:xfrm>
            <a:off x="442913" y="970824"/>
            <a:ext cx="3839766" cy="480027"/>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A1A1AA"/>
                </a:solidFill>
                <a:latin typeface="Inter" pitchFamily="34" charset="0"/>
                <a:ea typeface="Inter" pitchFamily="34" charset="-122"/>
                <a:cs typeface="Inter" pitchFamily="34" charset="-120"/>
              </a:rPr>
              <a:t>Meta discontinued 'Horizon Workrooms' as a standalone app during 'Reality Labs' cuts. This proves the Metaverse is a real business experiment with direct effects on workers and companies.</a:t>
            </a:r>
            <a:endParaRPr lang="en-US" sz="850" dirty="0"/>
          </a:p>
        </p:txBody>
      </p:sp>
      <p:sp>
        <p:nvSpPr>
          <p:cNvPr id="11" name="Shape 7"/>
          <p:cNvSpPr/>
          <p:nvPr/>
        </p:nvSpPr>
        <p:spPr>
          <a:xfrm>
            <a:off x="442913" y="1558007"/>
            <a:ext cx="3839766" cy="1259086"/>
          </a:xfrm>
          <a:prstGeom prst="rect">
            <a:avLst/>
          </a:prstGeom>
          <a:solidFill>
            <a:srgbClr val="000000"/>
          </a:solidFill>
          <a:ln w="9144">
            <a:solidFill>
              <a:srgbClr val="00FF41"/>
            </a:solidFill>
            <a:prstDash val="solid"/>
          </a:ln>
        </p:spPr>
      </p:sp>
      <p:pic>
        <p:nvPicPr>
          <p:cNvPr id="12" name="Image 1" descr="preencoded.png">    </p:cNvPr>
          <p:cNvPicPr>
            <a:picLocks noChangeAspect="1"/>
          </p:cNvPicPr>
          <p:nvPr/>
        </p:nvPicPr>
        <p:blipFill>
          <a:blip r:embed="rId2"/>
          <a:stretch>
            <a:fillRect/>
          </a:stretch>
        </p:blipFill>
        <p:spPr>
          <a:xfrm>
            <a:off x="478631" y="1593726"/>
            <a:ext cx="3768328" cy="1143000"/>
          </a:xfrm>
          <a:prstGeom prst="rect">
            <a:avLst/>
          </a:prstGeom>
        </p:spPr>
      </p:pic>
      <p:sp>
        <p:nvSpPr>
          <p:cNvPr id="13" name="Text 8"/>
          <p:cNvSpPr/>
          <p:nvPr/>
        </p:nvSpPr>
        <p:spPr>
          <a:xfrm>
            <a:off x="4861322" y="346472"/>
            <a:ext cx="3839766"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E11D48"/>
                </a:solidFill>
                <a:latin typeface="Inter" pitchFamily="34" charset="0"/>
                <a:ea typeface="Inter" pitchFamily="34" charset="-122"/>
                <a:cs typeface="Inter" pitchFamily="34" charset="-120"/>
              </a:rPr>
              <a:t>root@nyc_node:~#</a:t>
            </a:r>
            <a:r>
              <a:rPr lang="en-US" sz="850" dirty="0">
                <a:solidFill>
                  <a:srgbClr val="A1A1AA"/>
                </a:solidFill>
                <a:latin typeface="Inter" pitchFamily="34" charset="0"/>
                <a:ea typeface="Inter" pitchFamily="34" charset="-122"/>
                <a:cs typeface="Inter" pitchFamily="34" charset="-120"/>
              </a:rPr>
              <a:t> ./fetch_case_kenya</a:t>
            </a:r>
            <a:endParaRPr lang="en-US" sz="850" dirty="0"/>
          </a:p>
        </p:txBody>
      </p:sp>
      <p:sp>
        <p:nvSpPr>
          <p:cNvPr id="14" name="Text 9"/>
          <p:cNvSpPr/>
          <p:nvPr/>
        </p:nvSpPr>
        <p:spPr>
          <a:xfrm>
            <a:off x="4861322" y="506481"/>
            <a:ext cx="3839766" cy="103584"/>
          </a:xfrm>
          <a:prstGeom prst="rect">
            <a:avLst/>
          </a:prstGeom>
          <a:noFill/>
          <a:ln/>
        </p:spPr>
        <p:txBody>
          <a:bodyPr wrap="square" lIns="0" tIns="0" rIns="0" bIns="0" rtlCol="0" anchor="t">
            <a:spAutoFit/>
          </a:bodyPr>
          <a:lstStyle/>
          <a:p>
            <a:pPr algn="l" indent="0" marL="0">
              <a:buNone/>
            </a:pPr>
            <a:r>
              <a:rPr lang="en-US" sz="550" dirty="0">
                <a:solidFill>
                  <a:srgbClr val="E11D48"/>
                </a:solidFill>
                <a:latin typeface="Roboto Mono Bold" pitchFamily="34" charset="0"/>
                <a:ea typeface="Roboto Mono Bold" pitchFamily="34" charset="-122"/>
                <a:cs typeface="Roboto Mono Bold" pitchFamily="34" charset="-120"/>
              </a:rPr>
              <a:t>SUBJECT: LABOR ORGANIZING</a:t>
            </a:r>
            <a:endParaRPr lang="en-US" sz="550" dirty="0"/>
          </a:p>
        </p:txBody>
      </p:sp>
      <p:sp>
        <p:nvSpPr>
          <p:cNvPr id="15" name="Text 10"/>
          <p:cNvSpPr/>
          <p:nvPr/>
        </p:nvSpPr>
        <p:spPr>
          <a:xfrm>
            <a:off x="4861322" y="667215"/>
            <a:ext cx="3839766" cy="232172"/>
          </a:xfrm>
          <a:prstGeom prst="rect">
            <a:avLst/>
          </a:prstGeom>
          <a:noFill/>
          <a:ln/>
        </p:spPr>
        <p:txBody>
          <a:bodyPr wrap="square" lIns="0" tIns="42545"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Kenyan Court Ruling</a:t>
            </a:r>
            <a:endParaRPr lang="en-US" sz="1000" dirty="0"/>
          </a:p>
        </p:txBody>
      </p:sp>
      <p:sp>
        <p:nvSpPr>
          <p:cNvPr id="16" name="Text 11"/>
          <p:cNvSpPr/>
          <p:nvPr/>
        </p:nvSpPr>
        <p:spPr>
          <a:xfrm>
            <a:off x="4861322" y="970824"/>
            <a:ext cx="3839766" cy="480027"/>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A1A1AA"/>
                </a:solidFill>
                <a:latin typeface="Inter" pitchFamily="34" charset="0"/>
                <a:ea typeface="Inter" pitchFamily="34" charset="-122"/>
                <a:cs typeface="Inter" pitchFamily="34" charset="-120"/>
              </a:rPr>
              <a:t>Courts ruled Meta broke the law by firing content moderators who attempted to unionize. Big tech uses outsourced labor to avoid direct responsibility for working conditions.</a:t>
            </a:r>
            <a:endParaRPr lang="en-US" sz="850" dirty="0"/>
          </a:p>
        </p:txBody>
      </p:sp>
      <p:sp>
        <p:nvSpPr>
          <p:cNvPr id="17" name="Shape 12"/>
          <p:cNvSpPr/>
          <p:nvPr/>
        </p:nvSpPr>
        <p:spPr>
          <a:xfrm>
            <a:off x="4861322" y="1558007"/>
            <a:ext cx="3839766" cy="737202"/>
          </a:xfrm>
          <a:prstGeom prst="rect">
            <a:avLst/>
          </a:prstGeom>
          <a:solidFill>
            <a:srgbClr val="18181B"/>
          </a:solidFill>
          <a:ln w="9144">
            <a:solidFill>
              <a:srgbClr val="00FF41"/>
            </a:solidFill>
            <a:prstDash val="solid"/>
          </a:ln>
        </p:spPr>
      </p:sp>
      <p:sp>
        <p:nvSpPr>
          <p:cNvPr id="18" name="Text 13"/>
          <p:cNvSpPr/>
          <p:nvPr/>
        </p:nvSpPr>
        <p:spPr>
          <a:xfrm>
            <a:off x="4947047" y="1643732"/>
            <a:ext cx="3668316"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E11D48"/>
                </a:solidFill>
                <a:latin typeface="Inter" pitchFamily="34" charset="0"/>
                <a:ea typeface="Inter" pitchFamily="34" charset="-122"/>
                <a:cs typeface="Inter" pitchFamily="34" charset="-120"/>
              </a:rPr>
              <a:t>&gt; [VERDICT] ILLEGAL_TERMINATION_CONFIRMED</a:t>
            </a:r>
            <a:endParaRPr lang="en-US" sz="850" dirty="0"/>
          </a:p>
        </p:txBody>
      </p:sp>
      <p:sp>
        <p:nvSpPr>
          <p:cNvPr id="19" name="Text 14"/>
          <p:cNvSpPr/>
          <p:nvPr/>
        </p:nvSpPr>
        <p:spPr>
          <a:xfrm>
            <a:off x="4947047" y="1839460"/>
            <a:ext cx="3668316"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A1A1AA"/>
                </a:solidFill>
                <a:latin typeface="Inter" pitchFamily="34" charset="0"/>
                <a:ea typeface="Inter" pitchFamily="34" charset="-122"/>
                <a:cs typeface="Inter" pitchFamily="34" charset="-120"/>
              </a:rPr>
              <a:t>&gt; [STATUS] UNION_RIGHTS_PROTECTED</a:t>
            </a:r>
            <a:endParaRPr lang="en-US" sz="850" dirty="0"/>
          </a:p>
        </p:txBody>
      </p:sp>
      <p:sp>
        <p:nvSpPr>
          <p:cNvPr id="20" name="Text 15"/>
          <p:cNvSpPr/>
          <p:nvPr/>
        </p:nvSpPr>
        <p:spPr>
          <a:xfrm>
            <a:off x="4947047" y="2035187"/>
            <a:ext cx="3668316"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A1A1AA"/>
                </a:solidFill>
                <a:latin typeface="Inter" pitchFamily="34" charset="0"/>
                <a:ea typeface="Inter" pitchFamily="34" charset="-122"/>
                <a:cs typeface="Inter" pitchFamily="34" charset="-120"/>
              </a:rPr>
              <a:t>&gt; [IMPACT] OUTSOURCED_LABOR_ACCOUNTABILITY</a:t>
            </a:r>
            <a:endParaRPr lang="en-US" sz="850" dirty="0"/>
          </a:p>
        </p:txBody>
      </p:sp>
      <p:sp>
        <p:nvSpPr>
          <p:cNvPr id="21" name="Text 16"/>
          <p:cNvSpPr/>
          <p:nvPr/>
        </p:nvSpPr>
        <p:spPr>
          <a:xfrm>
            <a:off x="4861322" y="2352359"/>
            <a:ext cx="3839766" cy="239985"/>
          </a:xfrm>
          <a:prstGeom prst="rect">
            <a:avLst/>
          </a:prstGeom>
          <a:noFill/>
          <a:ln/>
        </p:spPr>
        <p:txBody>
          <a:bodyPr wrap="square" lIns="0" tIns="0" rIns="0" bIns="0" rtlCol="0" anchor="t">
            <a:spAutoFit/>
          </a:bodyPr>
          <a:lstStyle/>
          <a:p>
            <a:pPr algn="l" indent="0" marL="0">
              <a:lnSpc>
                <a:spcPct val="112000"/>
              </a:lnSpc>
              <a:buNone/>
            </a:pPr>
            <a:r>
              <a:rPr lang="en-US" sz="600" dirty="0">
                <a:solidFill>
                  <a:srgbClr val="666666"/>
                </a:solidFill>
                <a:latin typeface="Inter" pitchFamily="34" charset="0"/>
                <a:ea typeface="Inter" pitchFamily="34" charset="-122"/>
                <a:cs typeface="Inter" pitchFamily="34" charset="-120"/>
              </a:rPr>
              <a:t>"The Metaverse workplace is not just about new technology; it's about how society chooses to treat workers."</a:t>
            </a:r>
            <a:endParaRPr lang="en-US" sz="600" dirty="0"/>
          </a:p>
        </p:txBody>
      </p:sp>
      <p:sp>
        <p:nvSpPr>
          <p:cNvPr id="22" name="Shape 17"/>
          <p:cNvSpPr/>
          <p:nvPr/>
        </p:nvSpPr>
        <p:spPr>
          <a:xfrm>
            <a:off x="14288" y="4938117"/>
            <a:ext cx="9115425" cy="191095"/>
          </a:xfrm>
          <a:prstGeom prst="rect">
            <a:avLst/>
          </a:prstGeom>
          <a:solidFill>
            <a:srgbClr val="000000">
              <a:alpha val="0"/>
            </a:srgbClr>
          </a:solidFill>
          <a:ln/>
        </p:spPr>
      </p:sp>
      <p:sp>
        <p:nvSpPr>
          <p:cNvPr id="23" name="Shape 18"/>
          <p:cNvSpPr/>
          <p:nvPr/>
        </p:nvSpPr>
        <p:spPr>
          <a:xfrm>
            <a:off x="14288" y="4938117"/>
            <a:ext cx="9115425" cy="7144"/>
          </a:xfrm>
          <a:prstGeom prst="rect">
            <a:avLst/>
          </a:prstGeom>
          <a:solidFill>
            <a:srgbClr val="333333"/>
          </a:solidFill>
          <a:ln/>
        </p:spPr>
      </p:sp>
      <p:sp>
        <p:nvSpPr>
          <p:cNvPr id="24" name="Text 19"/>
          <p:cNvSpPr/>
          <p:nvPr/>
        </p:nvSpPr>
        <p:spPr>
          <a:xfrm>
            <a:off x="14288" y="4938117"/>
            <a:ext cx="9115425" cy="191095"/>
          </a:xfrm>
          <a:prstGeom prst="rect">
            <a:avLst/>
          </a:prstGeom>
          <a:noFill/>
          <a:ln/>
        </p:spPr>
        <p:txBody>
          <a:bodyPr wrap="square" lIns="510286" tIns="85090" rIns="0" bIns="0" rtlCol="0" anchor="t">
            <a:spAutoFit/>
          </a:bodyPr>
          <a:lstStyle/>
          <a:p>
            <a:pPr algn="l" indent="0" marL="0">
              <a:buNone/>
            </a:pPr>
            <a:r>
              <a:rPr lang="en-US" sz="600" dirty="0">
                <a:solidFill>
                  <a:srgbClr val="666666"/>
                </a:solidFill>
                <a:latin typeface="Roboto Mono Bold" pitchFamily="34" charset="0"/>
                <a:ea typeface="Roboto Mono Bold" pitchFamily="34" charset="-122"/>
                <a:cs typeface="Roboto Mono Bold" pitchFamily="34" charset="-120"/>
              </a:rPr>
              <a:t>[SECTION_06] // [CASE_STUDY_V3] // [PAGE_07]</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8" y="14288"/>
            <a:ext cx="9115425" cy="189309"/>
          </a:xfrm>
          <a:prstGeom prst="rect">
            <a:avLst/>
          </a:prstGeom>
          <a:solidFill>
            <a:srgbClr val="333333"/>
          </a:solidFill>
          <a:ln/>
        </p:spPr>
      </p:sp>
      <p:sp>
        <p:nvSpPr>
          <p:cNvPr id="5" name="Text 1"/>
          <p:cNvSpPr/>
          <p:nvPr/>
        </p:nvSpPr>
        <p:spPr>
          <a:xfrm>
            <a:off x="157163" y="71438"/>
            <a:ext cx="1457325" cy="132159"/>
          </a:xfrm>
          <a:prstGeom prst="rect">
            <a:avLst/>
          </a:prstGeom>
          <a:noFill/>
          <a:ln/>
        </p:spPr>
        <p:txBody>
          <a:bodyPr wrap="squar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FILE: societal_impact.sh</a:t>
            </a:r>
            <a:endParaRPr lang="en-US" sz="750" dirty="0"/>
          </a:p>
        </p:txBody>
      </p:sp>
      <p:sp>
        <p:nvSpPr>
          <p:cNvPr id="6" name="Text 2"/>
          <p:cNvSpPr/>
          <p:nvPr/>
        </p:nvSpPr>
        <p:spPr>
          <a:xfrm>
            <a:off x="7954566" y="71438"/>
            <a:ext cx="1032272" cy="132159"/>
          </a:xfrm>
          <a:prstGeom prst="rect">
            <a:avLst/>
          </a:prstGeom>
          <a:noFill/>
          <a:ln/>
        </p:spPr>
        <p:txBody>
          <a:bodyPr wrap="non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NODE: NYC_CORE_08</a:t>
            </a:r>
            <a:endParaRPr lang="en-US" sz="750" dirty="0"/>
          </a:p>
        </p:txBody>
      </p:sp>
      <p:sp>
        <p:nvSpPr>
          <p:cNvPr id="7" name="Text 3"/>
          <p:cNvSpPr/>
          <p:nvPr/>
        </p:nvSpPr>
        <p:spPr>
          <a:xfrm>
            <a:off x="442913" y="532209"/>
            <a:ext cx="2519372" cy="150019"/>
          </a:xfrm>
          <a:prstGeom prst="rect">
            <a:avLst/>
          </a:prstGeom>
          <a:noFill/>
          <a:ln/>
        </p:spPr>
        <p:txBody>
          <a:bodyPr wrap="square" lIns="0" tIns="0" rIns="0" bIns="0" rtlCol="0" anchor="t">
            <a:spAutoFit/>
          </a:bodyPr>
          <a:lstStyle/>
          <a:p>
            <a:pPr algn="l" indent="0" marL="0">
              <a:buNone/>
            </a:pPr>
            <a:r>
              <a:rPr lang="en-US" sz="850" dirty="0">
                <a:solidFill>
                  <a:srgbClr val="E11D48"/>
                </a:solidFill>
                <a:latin typeface="Roboto Mono Bold" pitchFamily="34" charset="0"/>
                <a:ea typeface="Roboto Mono Bold" pitchFamily="34" charset="-122"/>
                <a:cs typeface="Roboto Mono Bold" pitchFamily="34" charset="-120"/>
              </a:rPr>
              <a:t>root@nyc_node:~#</a:t>
            </a:r>
            <a:r>
              <a:rPr lang="en-US" sz="850" dirty="0">
                <a:solidFill>
                  <a:srgbClr val="00FF41"/>
                </a:solidFill>
                <a:latin typeface="Roboto Mono Bold" pitchFamily="34" charset="0"/>
                <a:ea typeface="Roboto Mono Bold" pitchFamily="34" charset="-122"/>
                <a:cs typeface="Roboto Mono Bold" pitchFamily="34" charset="-120"/>
              </a:rPr>
              <a:t> ./analyze_norms</a:t>
            </a:r>
            <a:endParaRPr lang="en-US" sz="850" dirty="0"/>
          </a:p>
        </p:txBody>
      </p:sp>
      <p:sp>
        <p:nvSpPr>
          <p:cNvPr id="8" name="Text 4"/>
          <p:cNvSpPr/>
          <p:nvPr/>
        </p:nvSpPr>
        <p:spPr>
          <a:xfrm>
            <a:off x="442913" y="796528"/>
            <a:ext cx="2519372" cy="232172"/>
          </a:xfrm>
          <a:prstGeom prst="rect">
            <a:avLst/>
          </a:prstGeom>
          <a:noFill/>
          <a:ln/>
        </p:spPr>
        <p:txBody>
          <a:bodyPr wrap="square" lIns="0" tIns="42545" rIns="0" bIns="0" rtlCol="0" anchor="t">
            <a:spAutoFit/>
          </a:bodyPr>
          <a:lstStyle/>
          <a:p>
            <a:pPr algn="l" indent="0" marL="0">
              <a:buNone/>
            </a:pPr>
            <a:r>
              <a:rPr lang="en-US" sz="1050" dirty="0">
                <a:solidFill>
                  <a:srgbClr val="00FF41"/>
                </a:solidFill>
                <a:latin typeface="Roboto Mono Bold" pitchFamily="34" charset="0"/>
                <a:ea typeface="Roboto Mono Bold" pitchFamily="34" charset="-122"/>
                <a:cs typeface="Roboto Mono Bold" pitchFamily="34" charset="-120"/>
              </a:rPr>
              <a:t>PRIVACY NORMS</a:t>
            </a:r>
            <a:endParaRPr lang="en-US" sz="1050" dirty="0"/>
          </a:p>
        </p:txBody>
      </p:sp>
      <p:sp>
        <p:nvSpPr>
          <p:cNvPr id="9" name="Text 5"/>
          <p:cNvSpPr/>
          <p:nvPr/>
        </p:nvSpPr>
        <p:spPr>
          <a:xfrm>
            <a:off x="442913" y="1114425"/>
            <a:ext cx="2519372"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A1A1AA"/>
                </a:solidFill>
                <a:latin typeface="Inter" pitchFamily="34" charset="0"/>
                <a:ea typeface="Inter" pitchFamily="34" charset="-122"/>
                <a:cs typeface="Inter" pitchFamily="34" charset="-120"/>
              </a:rPr>
              <a:t>The normalization of constant surveillance in the workplace may bleed into broader societal expectations, eroding personal freedom.</a:t>
            </a:r>
            <a:endParaRPr lang="en-US" sz="850" dirty="0"/>
          </a:p>
        </p:txBody>
      </p:sp>
      <p:sp>
        <p:nvSpPr>
          <p:cNvPr id="10" name="Shape 6"/>
          <p:cNvSpPr/>
          <p:nvPr/>
        </p:nvSpPr>
        <p:spPr>
          <a:xfrm>
            <a:off x="442913" y="1735931"/>
            <a:ext cx="2519372" cy="1401961"/>
          </a:xfrm>
          <a:prstGeom prst="rect">
            <a:avLst/>
          </a:prstGeom>
          <a:solidFill>
            <a:srgbClr val="000000"/>
          </a:solidFill>
          <a:ln w="9144">
            <a:solidFill>
              <a:srgbClr val="00FF41"/>
            </a:solidFill>
            <a:prstDash val="solid"/>
          </a:ln>
        </p:spPr>
      </p:sp>
      <p:pic>
        <p:nvPicPr>
          <p:cNvPr id="11" name="Image 1" descr="preencoded.png">    </p:cNvPr>
          <p:cNvPicPr>
            <a:picLocks noChangeAspect="1"/>
          </p:cNvPicPr>
          <p:nvPr/>
        </p:nvPicPr>
        <p:blipFill>
          <a:blip r:embed="rId2"/>
          <a:stretch>
            <a:fillRect/>
          </a:stretch>
        </p:blipFill>
        <p:spPr>
          <a:xfrm>
            <a:off x="478631" y="1771650"/>
            <a:ext cx="2447934" cy="1285875"/>
          </a:xfrm>
          <a:prstGeom prst="rect">
            <a:avLst/>
          </a:prstGeom>
        </p:spPr>
      </p:pic>
      <p:sp>
        <p:nvSpPr>
          <p:cNvPr id="12" name="Text 7"/>
          <p:cNvSpPr/>
          <p:nvPr/>
        </p:nvSpPr>
        <p:spPr>
          <a:xfrm>
            <a:off x="3312328" y="532209"/>
            <a:ext cx="2519372" cy="150019"/>
          </a:xfrm>
          <a:prstGeom prst="rect">
            <a:avLst/>
          </a:prstGeom>
          <a:noFill/>
          <a:ln/>
        </p:spPr>
        <p:txBody>
          <a:bodyPr wrap="square" lIns="0" tIns="0" rIns="0" bIns="0" rtlCol="0" anchor="t">
            <a:spAutoFit/>
          </a:bodyPr>
          <a:lstStyle/>
          <a:p>
            <a:pPr algn="l" indent="0" marL="0">
              <a:buNone/>
            </a:pPr>
            <a:r>
              <a:rPr lang="en-US" sz="850" dirty="0">
                <a:solidFill>
                  <a:srgbClr val="E11D48"/>
                </a:solidFill>
                <a:latin typeface="Roboto Mono Bold" pitchFamily="34" charset="0"/>
                <a:ea typeface="Roboto Mono Bold" pitchFamily="34" charset="-122"/>
                <a:cs typeface="Roboto Mono Bold" pitchFamily="34" charset="-120"/>
              </a:rPr>
              <a:t>root@nyc_node:~#</a:t>
            </a:r>
            <a:r>
              <a:rPr lang="en-US" sz="850" dirty="0">
                <a:solidFill>
                  <a:srgbClr val="00FF41"/>
                </a:solidFill>
                <a:latin typeface="Roboto Mono Bold" pitchFamily="34" charset="0"/>
                <a:ea typeface="Roboto Mono Bold" pitchFamily="34" charset="-122"/>
                <a:cs typeface="Roboto Mono Bold" pitchFamily="34" charset="-120"/>
              </a:rPr>
              <a:t> ./analyze_rights</a:t>
            </a:r>
            <a:endParaRPr lang="en-US" sz="850" dirty="0"/>
          </a:p>
        </p:txBody>
      </p:sp>
      <p:sp>
        <p:nvSpPr>
          <p:cNvPr id="13" name="Text 8"/>
          <p:cNvSpPr/>
          <p:nvPr/>
        </p:nvSpPr>
        <p:spPr>
          <a:xfrm>
            <a:off x="3312328" y="796528"/>
            <a:ext cx="2519372" cy="232172"/>
          </a:xfrm>
          <a:prstGeom prst="rect">
            <a:avLst/>
          </a:prstGeom>
          <a:noFill/>
          <a:ln/>
        </p:spPr>
        <p:txBody>
          <a:bodyPr wrap="square" lIns="0" tIns="42545" rIns="0" bIns="0" rtlCol="0" anchor="t">
            <a:spAutoFit/>
          </a:bodyPr>
          <a:lstStyle/>
          <a:p>
            <a:pPr algn="l" indent="0" marL="0">
              <a:buNone/>
            </a:pPr>
            <a:r>
              <a:rPr lang="en-US" sz="1050" dirty="0">
                <a:solidFill>
                  <a:srgbClr val="00FF41"/>
                </a:solidFill>
                <a:latin typeface="Roboto Mono Bold" pitchFamily="34" charset="0"/>
                <a:ea typeface="Roboto Mono Bold" pitchFamily="34" charset="-122"/>
                <a:cs typeface="Roboto Mono Bold" pitchFamily="34" charset="-120"/>
              </a:rPr>
              <a:t>WORKER RIGHTS</a:t>
            </a:r>
            <a:endParaRPr lang="en-US" sz="1050" dirty="0"/>
          </a:p>
        </p:txBody>
      </p:sp>
      <p:sp>
        <p:nvSpPr>
          <p:cNvPr id="14" name="Text 9"/>
          <p:cNvSpPr/>
          <p:nvPr/>
        </p:nvSpPr>
        <p:spPr>
          <a:xfrm>
            <a:off x="3312328" y="1114425"/>
            <a:ext cx="2519372" cy="6858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A1A1AA"/>
                </a:solidFill>
                <a:latin typeface="Inter" pitchFamily="34" charset="0"/>
                <a:ea typeface="Inter" pitchFamily="34" charset="-122"/>
                <a:cs typeface="Inter" pitchFamily="34" charset="-120"/>
              </a:rPr>
              <a:t>Without urgent regulation, the metaverse could deepen existing inequalities and create a new class of "virtual laborers" with zero protections.</a:t>
            </a:r>
            <a:endParaRPr lang="en-US" sz="850" dirty="0"/>
          </a:p>
        </p:txBody>
      </p:sp>
      <p:sp>
        <p:nvSpPr>
          <p:cNvPr id="15" name="Shape 10"/>
          <p:cNvSpPr/>
          <p:nvPr/>
        </p:nvSpPr>
        <p:spPr>
          <a:xfrm>
            <a:off x="3312328" y="1907381"/>
            <a:ext cx="2519372" cy="1401961"/>
          </a:xfrm>
          <a:prstGeom prst="rect">
            <a:avLst/>
          </a:prstGeom>
          <a:solidFill>
            <a:srgbClr val="000000"/>
          </a:solidFill>
          <a:ln w="9144">
            <a:solidFill>
              <a:srgbClr val="00FF41"/>
            </a:solidFill>
            <a:prstDash val="solid"/>
          </a:ln>
        </p:spPr>
      </p:sp>
      <p:pic>
        <p:nvPicPr>
          <p:cNvPr id="16" name="Image 2" descr="preencoded.png">    </p:cNvPr>
          <p:cNvPicPr>
            <a:picLocks noChangeAspect="1"/>
          </p:cNvPicPr>
          <p:nvPr/>
        </p:nvPicPr>
        <p:blipFill>
          <a:blip r:embed="rId3"/>
          <a:stretch>
            <a:fillRect/>
          </a:stretch>
        </p:blipFill>
        <p:spPr>
          <a:xfrm>
            <a:off x="3348047" y="1943100"/>
            <a:ext cx="2447934" cy="1285875"/>
          </a:xfrm>
          <a:prstGeom prst="rect">
            <a:avLst/>
          </a:prstGeom>
        </p:spPr>
      </p:pic>
      <p:sp>
        <p:nvSpPr>
          <p:cNvPr id="17" name="Text 11"/>
          <p:cNvSpPr/>
          <p:nvPr/>
        </p:nvSpPr>
        <p:spPr>
          <a:xfrm>
            <a:off x="6181744" y="532209"/>
            <a:ext cx="2519372" cy="150019"/>
          </a:xfrm>
          <a:prstGeom prst="rect">
            <a:avLst/>
          </a:prstGeom>
          <a:noFill/>
          <a:ln/>
        </p:spPr>
        <p:txBody>
          <a:bodyPr wrap="square" lIns="0" tIns="0" rIns="0" bIns="0" rtlCol="0" anchor="t">
            <a:spAutoFit/>
          </a:bodyPr>
          <a:lstStyle/>
          <a:p>
            <a:pPr algn="l" indent="0" marL="0">
              <a:buNone/>
            </a:pPr>
            <a:r>
              <a:rPr lang="en-US" sz="850" dirty="0">
                <a:solidFill>
                  <a:srgbClr val="E11D48"/>
                </a:solidFill>
                <a:latin typeface="Roboto Mono Bold" pitchFamily="34" charset="0"/>
                <a:ea typeface="Roboto Mono Bold" pitchFamily="34" charset="-122"/>
                <a:cs typeface="Roboto Mono Bold" pitchFamily="34" charset="-120"/>
              </a:rPr>
              <a:t>root@nyc_node:~#</a:t>
            </a:r>
            <a:r>
              <a:rPr lang="en-US" sz="850" dirty="0">
                <a:solidFill>
                  <a:srgbClr val="00FF41"/>
                </a:solidFill>
                <a:latin typeface="Roboto Mono Bold" pitchFamily="34" charset="0"/>
                <a:ea typeface="Roboto Mono Bold" pitchFamily="34" charset="-122"/>
                <a:cs typeface="Roboto Mono Bold" pitchFamily="34" charset="-120"/>
              </a:rPr>
              <a:t> ./forecast_future</a:t>
            </a:r>
            <a:endParaRPr lang="en-US" sz="850" dirty="0"/>
          </a:p>
        </p:txBody>
      </p:sp>
      <p:sp>
        <p:nvSpPr>
          <p:cNvPr id="18" name="Text 12"/>
          <p:cNvSpPr/>
          <p:nvPr/>
        </p:nvSpPr>
        <p:spPr>
          <a:xfrm>
            <a:off x="6181744" y="796528"/>
            <a:ext cx="2519372" cy="232172"/>
          </a:xfrm>
          <a:prstGeom prst="rect">
            <a:avLst/>
          </a:prstGeom>
          <a:noFill/>
          <a:ln/>
        </p:spPr>
        <p:txBody>
          <a:bodyPr wrap="square" lIns="0" tIns="42545" rIns="0" bIns="0" rtlCol="0" anchor="t">
            <a:spAutoFit/>
          </a:bodyPr>
          <a:lstStyle/>
          <a:p>
            <a:pPr algn="l" indent="0" marL="0">
              <a:buNone/>
            </a:pPr>
            <a:r>
              <a:rPr lang="en-US" sz="1050" dirty="0">
                <a:solidFill>
                  <a:srgbClr val="00FF41"/>
                </a:solidFill>
                <a:latin typeface="Roboto Mono Bold" pitchFamily="34" charset="0"/>
                <a:ea typeface="Roboto Mono Bold" pitchFamily="34" charset="-122"/>
                <a:cs typeface="Roboto Mono Bold" pitchFamily="34" charset="-120"/>
              </a:rPr>
              <a:t>FUTURE OUTLOOK</a:t>
            </a:r>
            <a:endParaRPr lang="en-US" sz="1050" dirty="0"/>
          </a:p>
        </p:txBody>
      </p:sp>
      <p:sp>
        <p:nvSpPr>
          <p:cNvPr id="19" name="Text 13"/>
          <p:cNvSpPr/>
          <p:nvPr/>
        </p:nvSpPr>
        <p:spPr>
          <a:xfrm>
            <a:off x="6181744" y="1114425"/>
            <a:ext cx="2519372"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A1A1AA"/>
                </a:solidFill>
                <a:latin typeface="Inter" pitchFamily="34" charset="0"/>
                <a:ea typeface="Inter" pitchFamily="34" charset="-122"/>
                <a:cs typeface="Inter" pitchFamily="34" charset="-120"/>
              </a:rPr>
              <a:t>The metaverse has the potential to fundamentally redefine the relationship between employer and employee.</a:t>
            </a:r>
            <a:endParaRPr lang="en-US" sz="850" dirty="0"/>
          </a:p>
        </p:txBody>
      </p:sp>
      <p:sp>
        <p:nvSpPr>
          <p:cNvPr id="20" name="Shape 14"/>
          <p:cNvSpPr/>
          <p:nvPr/>
        </p:nvSpPr>
        <p:spPr>
          <a:xfrm>
            <a:off x="6181744" y="1771650"/>
            <a:ext cx="2519372" cy="773311"/>
          </a:xfrm>
          <a:prstGeom prst="rect">
            <a:avLst/>
          </a:prstGeom>
          <a:solidFill>
            <a:srgbClr val="E11D48">
              <a:alpha val="10000"/>
            </a:srgbClr>
          </a:solidFill>
          <a:ln w="9144">
            <a:solidFill>
              <a:srgbClr val="E11D48"/>
            </a:solidFill>
            <a:prstDash val="solid"/>
          </a:ln>
        </p:spPr>
      </p:sp>
      <p:sp>
        <p:nvSpPr>
          <p:cNvPr id="21" name="Text 15"/>
          <p:cNvSpPr/>
          <p:nvPr/>
        </p:nvSpPr>
        <p:spPr>
          <a:xfrm>
            <a:off x="6288900" y="1878806"/>
            <a:ext cx="2305059" cy="132159"/>
          </a:xfrm>
          <a:prstGeom prst="rect">
            <a:avLst/>
          </a:prstGeom>
          <a:noFill/>
          <a:ln/>
        </p:spPr>
        <p:txBody>
          <a:bodyPr wrap="square" lIns="0" tIns="0" rIns="0" bIns="0" rtlCol="0" anchor="t">
            <a:spAutoFit/>
          </a:bodyPr>
          <a:lstStyle/>
          <a:p>
            <a:pPr algn="l" indent="0" marL="0">
              <a:buNone/>
            </a:pPr>
            <a:r>
              <a:rPr lang="en-US" sz="700" b="1" dirty="0">
                <a:solidFill>
                  <a:srgbClr val="E11D48"/>
                </a:solidFill>
                <a:latin typeface="Roboto Mono Bold" pitchFamily="34" charset="0"/>
                <a:ea typeface="Roboto Mono Bold" pitchFamily="34" charset="-122"/>
                <a:cs typeface="Roboto Mono Bold" pitchFamily="34" charset="-120"/>
              </a:rPr>
              <a:t>SOCIETAL_RISK: CRITICAL</a:t>
            </a:r>
            <a:endParaRPr lang="en-US" sz="700" dirty="0"/>
          </a:p>
        </p:txBody>
      </p:sp>
      <p:sp>
        <p:nvSpPr>
          <p:cNvPr id="22" name="Shape 16"/>
          <p:cNvSpPr/>
          <p:nvPr/>
        </p:nvSpPr>
        <p:spPr>
          <a:xfrm>
            <a:off x="6288900" y="2082403"/>
            <a:ext cx="2305059" cy="71438"/>
          </a:xfrm>
          <a:prstGeom prst="rect">
            <a:avLst/>
          </a:prstGeom>
          <a:solidFill>
            <a:srgbClr val="333333"/>
          </a:solidFill>
          <a:ln/>
        </p:spPr>
      </p:sp>
      <p:sp>
        <p:nvSpPr>
          <p:cNvPr id="23" name="Text 17"/>
          <p:cNvSpPr/>
          <p:nvPr/>
        </p:nvSpPr>
        <p:spPr>
          <a:xfrm>
            <a:off x="6288900" y="2225278"/>
            <a:ext cx="2305059" cy="112514"/>
          </a:xfrm>
          <a:prstGeom prst="rect">
            <a:avLst/>
          </a:prstGeom>
          <a:noFill/>
          <a:ln/>
        </p:spPr>
        <p:txBody>
          <a:bodyPr wrap="square" lIns="0" tIns="0" rIns="0" bIns="0" rtlCol="0" anchor="t">
            <a:spAutoFit/>
          </a:bodyPr>
          <a:lstStyle/>
          <a:p>
            <a:pPr algn="l" indent="0" marL="0">
              <a:buNone/>
            </a:pPr>
            <a:r>
              <a:rPr lang="en-US" sz="600" dirty="0">
                <a:solidFill>
                  <a:srgbClr val="E11D48"/>
                </a:solidFill>
                <a:latin typeface="Roboto Mono Bold" pitchFamily="34" charset="0"/>
                <a:ea typeface="Roboto Mono Bold" pitchFamily="34" charset="-122"/>
                <a:cs typeface="Roboto Mono Bold" pitchFamily="34" charset="-120"/>
              </a:rPr>
              <a:t>&gt; [THREAT] PERSONAL_FREEDOM_EROSION</a:t>
            </a:r>
            <a:endParaRPr lang="en-US" sz="600" dirty="0"/>
          </a:p>
        </p:txBody>
      </p:sp>
      <p:sp>
        <p:nvSpPr>
          <p:cNvPr id="24" name="Shape 18"/>
          <p:cNvSpPr/>
          <p:nvPr/>
        </p:nvSpPr>
        <p:spPr>
          <a:xfrm>
            <a:off x="14288" y="4902398"/>
            <a:ext cx="9115425" cy="226814"/>
          </a:xfrm>
          <a:prstGeom prst="rect">
            <a:avLst/>
          </a:prstGeom>
          <a:solidFill>
            <a:srgbClr val="000000">
              <a:alpha val="0"/>
            </a:srgbClr>
          </a:solidFill>
          <a:ln/>
        </p:spPr>
      </p:sp>
      <p:sp>
        <p:nvSpPr>
          <p:cNvPr id="25" name="Shape 19"/>
          <p:cNvSpPr/>
          <p:nvPr/>
        </p:nvSpPr>
        <p:spPr>
          <a:xfrm>
            <a:off x="14288" y="4902398"/>
            <a:ext cx="9115425" cy="7144"/>
          </a:xfrm>
          <a:prstGeom prst="rect">
            <a:avLst/>
          </a:prstGeom>
          <a:solidFill>
            <a:srgbClr val="333333"/>
          </a:solidFill>
          <a:ln/>
        </p:spPr>
      </p:sp>
      <p:sp>
        <p:nvSpPr>
          <p:cNvPr id="26" name="Text 20"/>
          <p:cNvSpPr/>
          <p:nvPr/>
        </p:nvSpPr>
        <p:spPr>
          <a:xfrm>
            <a:off x="14288" y="4902398"/>
            <a:ext cx="9115425" cy="226814"/>
          </a:xfrm>
          <a:prstGeom prst="rect">
            <a:avLst/>
          </a:prstGeom>
          <a:noFill/>
          <a:ln/>
        </p:spPr>
        <p:txBody>
          <a:bodyPr wrap="square" lIns="510286" tIns="127508" rIns="0" bIns="0" rtlCol="0" anchor="t">
            <a:spAutoFit/>
          </a:bodyPr>
          <a:lstStyle/>
          <a:p>
            <a:pPr algn="l" indent="0" marL="0">
              <a:buNone/>
            </a:pPr>
            <a:r>
              <a:rPr lang="en-US" sz="600" dirty="0">
                <a:solidFill>
                  <a:srgbClr val="666666"/>
                </a:solidFill>
                <a:latin typeface="Roboto Mono Bold" pitchFamily="34" charset="0"/>
                <a:ea typeface="Roboto Mono Bold" pitchFamily="34" charset="-122"/>
                <a:cs typeface="Roboto Mono Bold" pitchFamily="34" charset="-120"/>
              </a:rPr>
              <a:t>[SECTION_07] // [SOCIETAL_IMPACT] // [PAGE_08]</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8" y="14288"/>
            <a:ext cx="9115425" cy="189309"/>
          </a:xfrm>
          <a:prstGeom prst="rect">
            <a:avLst/>
          </a:prstGeom>
          <a:solidFill>
            <a:srgbClr val="333333"/>
          </a:solidFill>
          <a:ln/>
        </p:spPr>
      </p:sp>
      <p:sp>
        <p:nvSpPr>
          <p:cNvPr id="5" name="Text 1"/>
          <p:cNvSpPr/>
          <p:nvPr/>
        </p:nvSpPr>
        <p:spPr>
          <a:xfrm>
            <a:off x="157163" y="71438"/>
            <a:ext cx="1760934" cy="132159"/>
          </a:xfrm>
          <a:prstGeom prst="rect">
            <a:avLst/>
          </a:prstGeom>
          <a:noFill/>
          <a:ln/>
        </p:spPr>
        <p:txBody>
          <a:bodyPr wrap="squar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FILE: research_challenges.log</a:t>
            </a:r>
            <a:endParaRPr lang="en-US" sz="750" dirty="0"/>
          </a:p>
        </p:txBody>
      </p:sp>
      <p:sp>
        <p:nvSpPr>
          <p:cNvPr id="6" name="Text 2"/>
          <p:cNvSpPr/>
          <p:nvPr/>
        </p:nvSpPr>
        <p:spPr>
          <a:xfrm>
            <a:off x="7954566" y="71438"/>
            <a:ext cx="1032272" cy="132159"/>
          </a:xfrm>
          <a:prstGeom prst="rect">
            <a:avLst/>
          </a:prstGeom>
          <a:noFill/>
          <a:ln/>
        </p:spPr>
        <p:txBody>
          <a:bodyPr wrap="non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NODE: NYC_CORE_09</a:t>
            </a:r>
            <a:endParaRPr lang="en-US" sz="750" dirty="0"/>
          </a:p>
        </p:txBody>
      </p:sp>
      <p:sp>
        <p:nvSpPr>
          <p:cNvPr id="7" name="Text 3"/>
          <p:cNvSpPr/>
          <p:nvPr/>
        </p:nvSpPr>
        <p:spPr>
          <a:xfrm>
            <a:off x="442913" y="417909"/>
            <a:ext cx="2519372"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E11D48"/>
                </a:solidFill>
                <a:latin typeface="Inter" pitchFamily="34" charset="0"/>
                <a:ea typeface="Inter" pitchFamily="34" charset="-122"/>
                <a:cs typeface="Inter" pitchFamily="34" charset="-120"/>
              </a:rPr>
              <a:t>root@nyc_node:~#</a:t>
            </a:r>
            <a:r>
              <a:rPr lang="en-US" sz="850" dirty="0">
                <a:solidFill>
                  <a:srgbClr val="A1A1AA"/>
                </a:solidFill>
                <a:latin typeface="Inter" pitchFamily="34" charset="0"/>
                <a:ea typeface="Inter" pitchFamily="34" charset="-122"/>
                <a:cs typeface="Inter" pitchFamily="34" charset="-120"/>
              </a:rPr>
              <a:t> ./check_volatility</a:t>
            </a:r>
            <a:endParaRPr lang="en-US" sz="850" dirty="0"/>
          </a:p>
        </p:txBody>
      </p:sp>
      <p:sp>
        <p:nvSpPr>
          <p:cNvPr id="8" name="Text 4"/>
          <p:cNvSpPr/>
          <p:nvPr/>
        </p:nvSpPr>
        <p:spPr>
          <a:xfrm>
            <a:off x="442913" y="589359"/>
            <a:ext cx="2519372" cy="112514"/>
          </a:xfrm>
          <a:prstGeom prst="rect">
            <a:avLst/>
          </a:prstGeom>
          <a:noFill/>
          <a:ln/>
        </p:spPr>
        <p:txBody>
          <a:bodyPr wrap="square" lIns="0" tIns="0" rIns="0" bIns="0" rtlCol="0" anchor="t">
            <a:spAutoFit/>
          </a:bodyPr>
          <a:lstStyle/>
          <a:p>
            <a:pPr algn="l" indent="0" marL="0">
              <a:buNone/>
            </a:pPr>
            <a:r>
              <a:rPr lang="en-US" sz="600" dirty="0">
                <a:solidFill>
                  <a:srgbClr val="E11D48"/>
                </a:solidFill>
                <a:latin typeface="Roboto Mono Bold" pitchFamily="34" charset="0"/>
                <a:ea typeface="Roboto Mono Bold" pitchFamily="34" charset="-122"/>
                <a:cs typeface="Roboto Mono Bold" pitchFamily="34" charset="-120"/>
              </a:rPr>
              <a:t>CHALLENGE_01: VOLATILITY</a:t>
            </a:r>
            <a:endParaRPr lang="en-US" sz="600" dirty="0"/>
          </a:p>
        </p:txBody>
      </p:sp>
      <p:sp>
        <p:nvSpPr>
          <p:cNvPr id="9" name="Text 5"/>
          <p:cNvSpPr/>
          <p:nvPr/>
        </p:nvSpPr>
        <p:spPr>
          <a:xfrm>
            <a:off x="442913" y="773311"/>
            <a:ext cx="2519372" cy="232172"/>
          </a:xfrm>
          <a:prstGeom prst="rect">
            <a:avLst/>
          </a:prstGeom>
          <a:noFill/>
          <a:ln/>
        </p:spPr>
        <p:txBody>
          <a:bodyPr wrap="square" lIns="0" tIns="42545"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Technological Flux</a:t>
            </a:r>
            <a:endParaRPr lang="en-US" sz="1000" dirty="0"/>
          </a:p>
        </p:txBody>
      </p:sp>
      <p:sp>
        <p:nvSpPr>
          <p:cNvPr id="10" name="Text 6"/>
          <p:cNvSpPr/>
          <p:nvPr/>
        </p:nvSpPr>
        <p:spPr>
          <a:xfrm>
            <a:off x="442913" y="1091208"/>
            <a:ext cx="2519372"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A1A1AA"/>
                </a:solidFill>
                <a:latin typeface="Inter" pitchFamily="34" charset="0"/>
                <a:ea typeface="Inter" pitchFamily="34" charset="-122"/>
                <a:cs typeface="Inter" pitchFamily="34" charset="-120"/>
              </a:rPr>
              <a:t>Policies and technology evolve quickly, making long-term data consistency difficult.</a:t>
            </a:r>
            <a:endParaRPr lang="en-US" sz="850" dirty="0"/>
          </a:p>
        </p:txBody>
      </p:sp>
      <p:sp>
        <p:nvSpPr>
          <p:cNvPr id="11" name="Shape 7"/>
          <p:cNvSpPr/>
          <p:nvPr/>
        </p:nvSpPr>
        <p:spPr>
          <a:xfrm>
            <a:off x="442913" y="1541264"/>
            <a:ext cx="2519372" cy="382191"/>
          </a:xfrm>
          <a:prstGeom prst="rect">
            <a:avLst/>
          </a:prstGeom>
          <a:solidFill>
            <a:srgbClr val="000000"/>
          </a:solidFill>
          <a:ln w="9144">
            <a:solidFill>
              <a:srgbClr val="333333"/>
            </a:solidFill>
            <a:prstDash val="solid"/>
          </a:ln>
        </p:spPr>
      </p:sp>
      <p:sp>
        <p:nvSpPr>
          <p:cNvPr id="12" name="Text 8"/>
          <p:cNvSpPr/>
          <p:nvPr/>
        </p:nvSpPr>
        <p:spPr>
          <a:xfrm>
            <a:off x="442913" y="1541264"/>
            <a:ext cx="2519372" cy="382191"/>
          </a:xfrm>
          <a:prstGeom prst="rect">
            <a:avLst/>
          </a:prstGeom>
          <a:noFill/>
          <a:ln/>
        </p:spPr>
        <p:txBody>
          <a:bodyPr wrap="square" lIns="85090" tIns="85090" rIns="85090" bIns="85090" rtlCol="0" anchor="t">
            <a:spAutoFit/>
          </a:bodyPr>
          <a:lstStyle/>
          <a:p>
            <a:pPr algn="l" indent="0" marL="0">
              <a:buNone/>
            </a:pPr>
            <a:r>
              <a:rPr lang="en-US" sz="600" dirty="0">
                <a:solidFill>
                  <a:srgbClr val="00FF41"/>
                </a:solidFill>
                <a:latin typeface="Roboto Mono Bold" pitchFamily="34" charset="0"/>
                <a:ea typeface="Roboto Mono Bold" pitchFamily="34" charset="-122"/>
                <a:cs typeface="Roboto Mono Bold" pitchFamily="34" charset="-120"/>
              </a:rPr>
              <a:t>&gt; [DATA_STABILITY] LOW</a:t>
            </a:r>
            <a:r>
              <a:rPr lang="en-US" sz="600" dirty="0">
                <a:solidFill>
                  <a:srgbClr val="00FF41"/>
                </a:solidFill>
                <a:latin typeface="Roboto Mono Bold" pitchFamily="34" charset="0"/>
                <a:ea typeface="Roboto Mono Bold" pitchFamily="34" charset="-122"/>
                <a:cs typeface="Roboto Mono Bold" pitchFamily="34" charset="-120"/>
              </a:rPr>
              <a:t>
</a:t>
            </a:r>
            <a:r>
              <a:rPr lang="en-US" sz="600" dirty="0">
                <a:solidFill>
                  <a:srgbClr val="00FF41"/>
                </a:solidFill>
                <a:latin typeface="Roboto Mono Bold" pitchFamily="34" charset="0"/>
                <a:ea typeface="Roboto Mono Bold" pitchFamily="34" charset="-122"/>
                <a:cs typeface="Roboto Mono Bold" pitchFamily="34" charset="-120"/>
              </a:rPr>
              <a:t>&gt; [UPDATE_FREQ] CRITICAL</a:t>
            </a:r>
            <a:endParaRPr lang="en-US" sz="600" dirty="0"/>
          </a:p>
        </p:txBody>
      </p:sp>
      <p:sp>
        <p:nvSpPr>
          <p:cNvPr id="13" name="Text 9"/>
          <p:cNvSpPr/>
          <p:nvPr/>
        </p:nvSpPr>
        <p:spPr>
          <a:xfrm>
            <a:off x="3312328" y="417909"/>
            <a:ext cx="2519372"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E11D48"/>
                </a:solidFill>
                <a:latin typeface="Inter" pitchFamily="34" charset="0"/>
                <a:ea typeface="Inter" pitchFamily="34" charset="-122"/>
                <a:cs typeface="Inter" pitchFamily="34" charset="-120"/>
              </a:rPr>
              <a:t>root@nyc_node:~#</a:t>
            </a:r>
            <a:r>
              <a:rPr lang="en-US" sz="850" dirty="0">
                <a:solidFill>
                  <a:srgbClr val="A1A1AA"/>
                </a:solidFill>
                <a:latin typeface="Inter" pitchFamily="34" charset="0"/>
                <a:ea typeface="Inter" pitchFamily="34" charset="-122"/>
                <a:cs typeface="Inter" pitchFamily="34" charset="-120"/>
              </a:rPr>
              <a:t> ./check_access</a:t>
            </a:r>
            <a:endParaRPr lang="en-US" sz="850" dirty="0"/>
          </a:p>
        </p:txBody>
      </p:sp>
      <p:sp>
        <p:nvSpPr>
          <p:cNvPr id="14" name="Text 10"/>
          <p:cNvSpPr/>
          <p:nvPr/>
        </p:nvSpPr>
        <p:spPr>
          <a:xfrm>
            <a:off x="3312328" y="589359"/>
            <a:ext cx="2519372" cy="112514"/>
          </a:xfrm>
          <a:prstGeom prst="rect">
            <a:avLst/>
          </a:prstGeom>
          <a:noFill/>
          <a:ln/>
        </p:spPr>
        <p:txBody>
          <a:bodyPr wrap="square" lIns="0" tIns="0" rIns="0" bIns="0" rtlCol="0" anchor="t">
            <a:spAutoFit/>
          </a:bodyPr>
          <a:lstStyle/>
          <a:p>
            <a:pPr algn="l" indent="0" marL="0">
              <a:buNone/>
            </a:pPr>
            <a:r>
              <a:rPr lang="en-US" sz="600" dirty="0">
                <a:solidFill>
                  <a:srgbClr val="E11D48"/>
                </a:solidFill>
                <a:latin typeface="Roboto Mono Bold" pitchFamily="34" charset="0"/>
                <a:ea typeface="Roboto Mono Bold" pitchFamily="34" charset="-122"/>
                <a:cs typeface="Roboto Mono Bold" pitchFamily="34" charset="-120"/>
              </a:rPr>
              <a:t>CHALLENGE_02: ACCESS</a:t>
            </a:r>
            <a:endParaRPr lang="en-US" sz="600" dirty="0"/>
          </a:p>
        </p:txBody>
      </p:sp>
      <p:sp>
        <p:nvSpPr>
          <p:cNvPr id="15" name="Text 11"/>
          <p:cNvSpPr/>
          <p:nvPr/>
        </p:nvSpPr>
        <p:spPr>
          <a:xfrm>
            <a:off x="3312328" y="773311"/>
            <a:ext cx="2519372" cy="232172"/>
          </a:xfrm>
          <a:prstGeom prst="rect">
            <a:avLst/>
          </a:prstGeom>
          <a:noFill/>
          <a:ln/>
        </p:spPr>
        <p:txBody>
          <a:bodyPr wrap="square" lIns="0" tIns="42545"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Hidden Labor</a:t>
            </a:r>
            <a:endParaRPr lang="en-US" sz="1000" dirty="0"/>
          </a:p>
        </p:txBody>
      </p:sp>
      <p:sp>
        <p:nvSpPr>
          <p:cNvPr id="16" name="Text 12"/>
          <p:cNvSpPr/>
          <p:nvPr/>
        </p:nvSpPr>
        <p:spPr>
          <a:xfrm>
            <a:off x="3312328" y="1091208"/>
            <a:ext cx="2519372"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A1A1AA"/>
                </a:solidFill>
                <a:latin typeface="Inter" pitchFamily="34" charset="0"/>
                <a:ea typeface="Inter" pitchFamily="34" charset="-122"/>
                <a:cs typeface="Inter" pitchFamily="34" charset="-120"/>
              </a:rPr>
              <a:t>Platform maintenance is often outsourced or hidden, reducing firsthand experience.</a:t>
            </a:r>
            <a:endParaRPr lang="en-US" sz="850" dirty="0"/>
          </a:p>
        </p:txBody>
      </p:sp>
      <p:sp>
        <p:nvSpPr>
          <p:cNvPr id="17" name="Shape 13"/>
          <p:cNvSpPr/>
          <p:nvPr/>
        </p:nvSpPr>
        <p:spPr>
          <a:xfrm>
            <a:off x="3312328" y="1541264"/>
            <a:ext cx="2519372" cy="382191"/>
          </a:xfrm>
          <a:prstGeom prst="rect">
            <a:avLst/>
          </a:prstGeom>
          <a:solidFill>
            <a:srgbClr val="000000"/>
          </a:solidFill>
          <a:ln w="9144">
            <a:solidFill>
              <a:srgbClr val="333333"/>
            </a:solidFill>
            <a:prstDash val="solid"/>
          </a:ln>
        </p:spPr>
      </p:sp>
      <p:sp>
        <p:nvSpPr>
          <p:cNvPr id="18" name="Text 14"/>
          <p:cNvSpPr/>
          <p:nvPr/>
        </p:nvSpPr>
        <p:spPr>
          <a:xfrm>
            <a:off x="3312328" y="1541264"/>
            <a:ext cx="2519372" cy="382191"/>
          </a:xfrm>
          <a:prstGeom prst="rect">
            <a:avLst/>
          </a:prstGeom>
          <a:noFill/>
          <a:ln/>
        </p:spPr>
        <p:txBody>
          <a:bodyPr wrap="square" lIns="85090" tIns="85090" rIns="85090" bIns="85090" rtlCol="0" anchor="t">
            <a:spAutoFit/>
          </a:bodyPr>
          <a:lstStyle/>
          <a:p>
            <a:pPr algn="l" indent="0" marL="0">
              <a:buNone/>
            </a:pPr>
            <a:r>
              <a:rPr lang="en-US" sz="600" dirty="0">
                <a:solidFill>
                  <a:srgbClr val="00FF41"/>
                </a:solidFill>
                <a:latin typeface="Roboto Mono Bold" pitchFamily="34" charset="0"/>
                <a:ea typeface="Roboto Mono Bold" pitchFamily="34" charset="-122"/>
                <a:cs typeface="Roboto Mono Bold" pitchFamily="34" charset="-120"/>
              </a:rPr>
              <a:t>&gt; [VISIBILITY] RESTRICTED</a:t>
            </a:r>
            <a:r>
              <a:rPr lang="en-US" sz="600" dirty="0">
                <a:solidFill>
                  <a:srgbClr val="00FF41"/>
                </a:solidFill>
                <a:latin typeface="Roboto Mono Bold" pitchFamily="34" charset="0"/>
                <a:ea typeface="Roboto Mono Bold" pitchFamily="34" charset="-122"/>
                <a:cs typeface="Roboto Mono Bold" pitchFamily="34" charset="-120"/>
              </a:rPr>
              <a:t>
</a:t>
            </a:r>
            <a:r>
              <a:rPr lang="en-US" sz="600" dirty="0">
                <a:solidFill>
                  <a:srgbClr val="00FF41"/>
                </a:solidFill>
                <a:latin typeface="Roboto Mono Bold" pitchFamily="34" charset="0"/>
                <a:ea typeface="Roboto Mono Bold" pitchFamily="34" charset="-122"/>
                <a:cs typeface="Roboto Mono Bold" pitchFamily="34" charset="-120"/>
              </a:rPr>
              <a:t>&gt; [VERIFICATION] FAILED</a:t>
            </a:r>
            <a:endParaRPr lang="en-US" sz="600" dirty="0"/>
          </a:p>
        </p:txBody>
      </p:sp>
      <p:sp>
        <p:nvSpPr>
          <p:cNvPr id="19" name="Text 15"/>
          <p:cNvSpPr/>
          <p:nvPr/>
        </p:nvSpPr>
        <p:spPr>
          <a:xfrm>
            <a:off x="6181744" y="417909"/>
            <a:ext cx="2519372"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E11D48"/>
                </a:solidFill>
                <a:latin typeface="Inter" pitchFamily="34" charset="0"/>
                <a:ea typeface="Inter" pitchFamily="34" charset="-122"/>
                <a:cs typeface="Inter" pitchFamily="34" charset="-120"/>
              </a:rPr>
              <a:t>root@nyc_node:~#</a:t>
            </a:r>
            <a:r>
              <a:rPr lang="en-US" sz="850" dirty="0">
                <a:solidFill>
                  <a:srgbClr val="A1A1AA"/>
                </a:solidFill>
                <a:latin typeface="Inter" pitchFamily="34" charset="0"/>
                <a:ea typeface="Inter" pitchFamily="34" charset="-122"/>
                <a:cs typeface="Inter" pitchFamily="34" charset="-120"/>
              </a:rPr>
              <a:t> ./check_complexity</a:t>
            </a:r>
            <a:endParaRPr lang="en-US" sz="850" dirty="0"/>
          </a:p>
        </p:txBody>
      </p:sp>
      <p:sp>
        <p:nvSpPr>
          <p:cNvPr id="20" name="Text 16"/>
          <p:cNvSpPr/>
          <p:nvPr/>
        </p:nvSpPr>
        <p:spPr>
          <a:xfrm>
            <a:off x="6181744" y="589359"/>
            <a:ext cx="2519372" cy="112514"/>
          </a:xfrm>
          <a:prstGeom prst="rect">
            <a:avLst/>
          </a:prstGeom>
          <a:noFill/>
          <a:ln/>
        </p:spPr>
        <p:txBody>
          <a:bodyPr wrap="square" lIns="0" tIns="0" rIns="0" bIns="0" rtlCol="0" anchor="t">
            <a:spAutoFit/>
          </a:bodyPr>
          <a:lstStyle/>
          <a:p>
            <a:pPr algn="l" indent="0" marL="0">
              <a:buNone/>
            </a:pPr>
            <a:r>
              <a:rPr lang="en-US" sz="600" dirty="0">
                <a:solidFill>
                  <a:srgbClr val="E11D48"/>
                </a:solidFill>
                <a:latin typeface="Roboto Mono Bold" pitchFamily="34" charset="0"/>
                <a:ea typeface="Roboto Mono Bold" pitchFamily="34" charset="-122"/>
                <a:cs typeface="Roboto Mono Bold" pitchFamily="34" charset="-120"/>
              </a:rPr>
              <a:t>CHALLENGE_03: COMPLEXITY</a:t>
            </a:r>
            <a:endParaRPr lang="en-US" sz="600" dirty="0"/>
          </a:p>
        </p:txBody>
      </p:sp>
      <p:sp>
        <p:nvSpPr>
          <p:cNvPr id="21" name="Text 17"/>
          <p:cNvSpPr/>
          <p:nvPr/>
        </p:nvSpPr>
        <p:spPr>
          <a:xfrm>
            <a:off x="6181744" y="773311"/>
            <a:ext cx="2519372" cy="232172"/>
          </a:xfrm>
          <a:prstGeom prst="rect">
            <a:avLst/>
          </a:prstGeom>
          <a:noFill/>
          <a:ln/>
        </p:spPr>
        <p:txBody>
          <a:bodyPr wrap="square" lIns="0" tIns="42545" rIns="0" bIns="0" rtlCol="0" anchor="t">
            <a:spAutoFit/>
          </a:bodyPr>
          <a:lstStyle/>
          <a:p>
            <a:pPr algn="l" indent="0" marL="0">
              <a:buNone/>
            </a:pPr>
            <a:r>
              <a:rPr lang="en-US" sz="1000" b="1" dirty="0">
                <a:solidFill>
                  <a:srgbClr val="00FF41"/>
                </a:solidFill>
                <a:latin typeface="Roboto Mono Bold" pitchFamily="34" charset="0"/>
                <a:ea typeface="Roboto Mono Bold" pitchFamily="34" charset="-122"/>
                <a:cs typeface="Roboto Mono Bold" pitchFamily="34" charset="-120"/>
              </a:rPr>
              <a:t>Ethical Nuance</a:t>
            </a:r>
            <a:endParaRPr lang="en-US" sz="1000" dirty="0"/>
          </a:p>
        </p:txBody>
      </p:sp>
      <p:sp>
        <p:nvSpPr>
          <p:cNvPr id="22" name="Text 18"/>
          <p:cNvSpPr/>
          <p:nvPr/>
        </p:nvSpPr>
        <p:spPr>
          <a:xfrm>
            <a:off x="6181744" y="1091208"/>
            <a:ext cx="2519372"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A1A1AA"/>
                </a:solidFill>
                <a:latin typeface="Inter" pitchFamily="34" charset="0"/>
                <a:ea typeface="Inter" pitchFamily="34" charset="-122"/>
                <a:cs typeface="Inter" pitchFamily="34" charset="-120"/>
              </a:rPr>
              <a:t>Explaining biometric surveillance to general audiences remains a major hurdle.</a:t>
            </a:r>
            <a:endParaRPr lang="en-US" sz="850" dirty="0"/>
          </a:p>
        </p:txBody>
      </p:sp>
      <p:sp>
        <p:nvSpPr>
          <p:cNvPr id="23" name="Shape 19"/>
          <p:cNvSpPr/>
          <p:nvPr/>
        </p:nvSpPr>
        <p:spPr>
          <a:xfrm>
            <a:off x="6181744" y="1541264"/>
            <a:ext cx="2519372" cy="1187648"/>
          </a:xfrm>
          <a:prstGeom prst="rect">
            <a:avLst/>
          </a:prstGeom>
          <a:solidFill>
            <a:srgbClr val="000000"/>
          </a:solidFill>
          <a:ln w="9144">
            <a:solidFill>
              <a:srgbClr val="00FF41"/>
            </a:solidFill>
            <a:prstDash val="solid"/>
          </a:ln>
        </p:spPr>
      </p:sp>
      <p:pic>
        <p:nvPicPr>
          <p:cNvPr id="24" name="Image 1" descr="preencoded.png">    </p:cNvPr>
          <p:cNvPicPr>
            <a:picLocks noChangeAspect="1"/>
          </p:cNvPicPr>
          <p:nvPr/>
        </p:nvPicPr>
        <p:blipFill>
          <a:blip r:embed="rId2"/>
          <a:stretch>
            <a:fillRect/>
          </a:stretch>
        </p:blipFill>
        <p:spPr>
          <a:xfrm>
            <a:off x="6217462" y="1576983"/>
            <a:ext cx="2447934" cy="1071563"/>
          </a:xfrm>
          <a:prstGeom prst="rect">
            <a:avLst/>
          </a:prstGeom>
        </p:spPr>
      </p:pic>
      <p:sp>
        <p:nvSpPr>
          <p:cNvPr id="25" name="Shape 20"/>
          <p:cNvSpPr/>
          <p:nvPr/>
        </p:nvSpPr>
        <p:spPr>
          <a:xfrm>
            <a:off x="14288" y="4902398"/>
            <a:ext cx="9115425" cy="226814"/>
          </a:xfrm>
          <a:prstGeom prst="rect">
            <a:avLst/>
          </a:prstGeom>
          <a:solidFill>
            <a:srgbClr val="000000">
              <a:alpha val="0"/>
            </a:srgbClr>
          </a:solidFill>
          <a:ln/>
        </p:spPr>
      </p:sp>
      <p:sp>
        <p:nvSpPr>
          <p:cNvPr id="26" name="Shape 21"/>
          <p:cNvSpPr/>
          <p:nvPr/>
        </p:nvSpPr>
        <p:spPr>
          <a:xfrm>
            <a:off x="14288" y="4902398"/>
            <a:ext cx="9115425" cy="7144"/>
          </a:xfrm>
          <a:prstGeom prst="rect">
            <a:avLst/>
          </a:prstGeom>
          <a:solidFill>
            <a:srgbClr val="333333"/>
          </a:solidFill>
          <a:ln/>
        </p:spPr>
      </p:sp>
      <p:sp>
        <p:nvSpPr>
          <p:cNvPr id="27" name="Text 22"/>
          <p:cNvSpPr/>
          <p:nvPr/>
        </p:nvSpPr>
        <p:spPr>
          <a:xfrm>
            <a:off x="14288" y="4902398"/>
            <a:ext cx="9115425" cy="226814"/>
          </a:xfrm>
          <a:prstGeom prst="rect">
            <a:avLst/>
          </a:prstGeom>
          <a:noFill/>
          <a:ln/>
        </p:spPr>
        <p:txBody>
          <a:bodyPr wrap="square" lIns="510286" tIns="127508" rIns="0" bIns="0" rtlCol="0" anchor="t">
            <a:spAutoFit/>
          </a:bodyPr>
          <a:lstStyle/>
          <a:p>
            <a:pPr algn="l" indent="0" marL="0">
              <a:buNone/>
            </a:pPr>
            <a:r>
              <a:rPr lang="en-US" sz="600" dirty="0">
                <a:solidFill>
                  <a:srgbClr val="666666"/>
                </a:solidFill>
                <a:latin typeface="Roboto Mono Bold" pitchFamily="34" charset="0"/>
                <a:ea typeface="Roboto Mono Bold" pitchFamily="34" charset="-122"/>
                <a:cs typeface="Roboto Mono Bold" pitchFamily="34" charset="-120"/>
              </a:rPr>
              <a:t>[SECTION_08] // [RESEARCH_DIAGNOSTICS] // [PAGE_09]</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8" y="14288"/>
            <a:ext cx="9115425" cy="189309"/>
          </a:xfrm>
          <a:prstGeom prst="rect">
            <a:avLst/>
          </a:prstGeom>
          <a:solidFill>
            <a:srgbClr val="333333"/>
          </a:solidFill>
          <a:ln/>
        </p:spPr>
      </p:sp>
      <p:sp>
        <p:nvSpPr>
          <p:cNvPr id="5" name="Text 1"/>
          <p:cNvSpPr/>
          <p:nvPr/>
        </p:nvSpPr>
        <p:spPr>
          <a:xfrm>
            <a:off x="157163" y="71438"/>
            <a:ext cx="1518047" cy="132159"/>
          </a:xfrm>
          <a:prstGeom prst="rect">
            <a:avLst/>
          </a:prstGeom>
          <a:noFill/>
          <a:ln/>
        </p:spPr>
        <p:txBody>
          <a:bodyPr wrap="squar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FILE: final_conclusion.sh</a:t>
            </a:r>
            <a:endParaRPr lang="en-US" sz="750" dirty="0"/>
          </a:p>
        </p:txBody>
      </p:sp>
      <p:sp>
        <p:nvSpPr>
          <p:cNvPr id="6" name="Text 2"/>
          <p:cNvSpPr/>
          <p:nvPr/>
        </p:nvSpPr>
        <p:spPr>
          <a:xfrm>
            <a:off x="7954566" y="71438"/>
            <a:ext cx="1032272" cy="132159"/>
          </a:xfrm>
          <a:prstGeom prst="rect">
            <a:avLst/>
          </a:prstGeom>
          <a:noFill/>
          <a:ln/>
        </p:spPr>
        <p:txBody>
          <a:bodyPr wrap="non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NODE: NYC_CORE_10</a:t>
            </a:r>
            <a:endParaRPr lang="en-US" sz="750" dirty="0"/>
          </a:p>
        </p:txBody>
      </p:sp>
      <p:sp>
        <p:nvSpPr>
          <p:cNvPr id="7" name="Text 3"/>
          <p:cNvSpPr/>
          <p:nvPr/>
        </p:nvSpPr>
        <p:spPr>
          <a:xfrm>
            <a:off x="442913" y="346472"/>
            <a:ext cx="4607719" cy="169999"/>
          </a:xfrm>
          <a:prstGeom prst="rect">
            <a:avLst/>
          </a:prstGeom>
          <a:noFill/>
          <a:ln/>
        </p:spPr>
        <p:txBody>
          <a:bodyPr wrap="none" lIns="0" tIns="0" rIns="0" bIns="0" rtlCol="0" anchor="t">
            <a:spAutoFit/>
          </a:bodyPr>
          <a:lstStyle/>
          <a:p>
            <a:pPr algn="l" indent="0" marL="0">
              <a:lnSpc>
                <a:spcPct val="112000"/>
              </a:lnSpc>
              <a:buNone/>
            </a:pPr>
            <a:r>
              <a:rPr lang="en-US" sz="900" dirty="0">
                <a:solidFill>
                  <a:srgbClr val="E11D48"/>
                </a:solidFill>
                <a:latin typeface="Inter" pitchFamily="34" charset="0"/>
                <a:ea typeface="Inter" pitchFamily="34" charset="-122"/>
                <a:cs typeface="Inter" pitchFamily="34" charset="-120"/>
              </a:rPr>
              <a:t>root@nyc_node:~#</a:t>
            </a:r>
            <a:r>
              <a:rPr lang="en-US" sz="900" dirty="0">
                <a:solidFill>
                  <a:srgbClr val="A1A1AA"/>
                </a:solidFill>
                <a:latin typeface="Inter" pitchFamily="34" charset="0"/>
                <a:ea typeface="Inter" pitchFamily="34" charset="-122"/>
                <a:cs typeface="Inter" pitchFamily="34" charset="-120"/>
              </a:rPr>
              <a:t> ./summarize_findings</a:t>
            </a:r>
            <a:endParaRPr lang="en-US" sz="900" dirty="0"/>
          </a:p>
        </p:txBody>
      </p:sp>
      <p:sp>
        <p:nvSpPr>
          <p:cNvPr id="8" name="Text 4"/>
          <p:cNvSpPr/>
          <p:nvPr/>
        </p:nvSpPr>
        <p:spPr>
          <a:xfrm>
            <a:off x="442913" y="623627"/>
            <a:ext cx="4607719" cy="250031"/>
          </a:xfrm>
          <a:prstGeom prst="rect">
            <a:avLst/>
          </a:prstGeom>
          <a:noFill/>
          <a:ln/>
        </p:spPr>
        <p:txBody>
          <a:bodyPr wrap="square" lIns="0" tIns="42545" rIns="0" bIns="0" rtlCol="0" anchor="t">
            <a:spAutoFit/>
          </a:bodyPr>
          <a:lstStyle/>
          <a:p>
            <a:pPr algn="l" indent="0" marL="0">
              <a:buNone/>
            </a:pPr>
            <a:r>
              <a:rPr lang="en-US" sz="1100" b="1" dirty="0">
                <a:solidFill>
                  <a:srgbClr val="00FF41"/>
                </a:solidFill>
                <a:latin typeface="Roboto Mono Bold" pitchFamily="34" charset="0"/>
                <a:ea typeface="Roboto Mono Bold" pitchFamily="34" charset="-122"/>
                <a:cs typeface="Roboto Mono Bold" pitchFamily="34" charset="-120"/>
              </a:rPr>
              <a:t>Key Findings</a:t>
            </a:r>
            <a:endParaRPr lang="en-US" sz="1100" dirty="0"/>
          </a:p>
        </p:txBody>
      </p:sp>
      <p:sp>
        <p:nvSpPr>
          <p:cNvPr id="9" name="Text 5"/>
          <p:cNvSpPr/>
          <p:nvPr/>
        </p:nvSpPr>
        <p:spPr>
          <a:xfrm>
            <a:off x="442913" y="945096"/>
            <a:ext cx="4607719" cy="509997"/>
          </a:xfrm>
          <a:prstGeom prst="rect">
            <a:avLst/>
          </a:prstGeom>
          <a:noFill/>
          <a:ln/>
        </p:spPr>
        <p:txBody>
          <a:bodyPr wrap="square" lIns="0" tIns="0" rIns="0" bIns="0" rtlCol="0" anchor="t">
            <a:spAutoFit/>
          </a:bodyPr>
          <a:lstStyle/>
          <a:p>
            <a:pPr algn="l" indent="0" marL="0">
              <a:lnSpc>
                <a:spcPct val="112000"/>
              </a:lnSpc>
              <a:buNone/>
            </a:pPr>
            <a:r>
              <a:rPr lang="en-US" sz="900" dirty="0">
                <a:solidFill>
                  <a:srgbClr val="A1A1AA"/>
                </a:solidFill>
                <a:latin typeface="Inter" pitchFamily="34" charset="0"/>
                <a:ea typeface="Inter" pitchFamily="34" charset="-122"/>
                <a:cs typeface="Inter" pitchFamily="34" charset="-120"/>
              </a:rPr>
              <a:t>The Metaverse workplace is not just about technology; it's about how society treats workers. Companies collect sensitive data while workers lack the power to refuse or negotiate.</a:t>
            </a:r>
            <a:endParaRPr lang="en-US" sz="900" dirty="0"/>
          </a:p>
        </p:txBody>
      </p:sp>
      <p:sp>
        <p:nvSpPr>
          <p:cNvPr id="10" name="Text 6"/>
          <p:cNvSpPr/>
          <p:nvPr/>
        </p:nvSpPr>
        <p:spPr>
          <a:xfrm>
            <a:off x="442913" y="1562249"/>
            <a:ext cx="4607719" cy="250031"/>
          </a:xfrm>
          <a:prstGeom prst="rect">
            <a:avLst/>
          </a:prstGeom>
          <a:noFill/>
          <a:ln/>
        </p:spPr>
        <p:txBody>
          <a:bodyPr wrap="square" lIns="0" tIns="42545" rIns="0" bIns="0" rtlCol="0" anchor="t">
            <a:spAutoFit/>
          </a:bodyPr>
          <a:lstStyle/>
          <a:p>
            <a:pPr algn="l" indent="0" marL="0">
              <a:buNone/>
            </a:pPr>
            <a:r>
              <a:rPr lang="en-US" sz="1100" b="1" dirty="0">
                <a:solidFill>
                  <a:srgbClr val="00FF41"/>
                </a:solidFill>
                <a:latin typeface="Roboto Mono Bold" pitchFamily="34" charset="0"/>
                <a:ea typeface="Roboto Mono Bold" pitchFamily="34" charset="-122"/>
                <a:cs typeface="Roboto Mono Bold" pitchFamily="34" charset="-120"/>
              </a:rPr>
              <a:t>Labor Precarity</a:t>
            </a:r>
            <a:endParaRPr lang="en-US" sz="1100" dirty="0"/>
          </a:p>
        </p:txBody>
      </p:sp>
      <p:sp>
        <p:nvSpPr>
          <p:cNvPr id="11" name="Text 7"/>
          <p:cNvSpPr/>
          <p:nvPr/>
        </p:nvSpPr>
        <p:spPr>
          <a:xfrm>
            <a:off x="442913" y="1883718"/>
            <a:ext cx="4607719" cy="339998"/>
          </a:xfrm>
          <a:prstGeom prst="rect">
            <a:avLst/>
          </a:prstGeom>
          <a:noFill/>
          <a:ln/>
        </p:spPr>
        <p:txBody>
          <a:bodyPr wrap="square" lIns="0" tIns="0" rIns="0" bIns="0" rtlCol="0" anchor="t">
            <a:spAutoFit/>
          </a:bodyPr>
          <a:lstStyle/>
          <a:p>
            <a:pPr algn="l" indent="0" marL="0">
              <a:lnSpc>
                <a:spcPct val="112000"/>
              </a:lnSpc>
              <a:buNone/>
            </a:pPr>
            <a:r>
              <a:rPr lang="en-US" sz="900" dirty="0">
                <a:solidFill>
                  <a:srgbClr val="A1A1AA"/>
                </a:solidFill>
                <a:latin typeface="Inter" pitchFamily="34" charset="0"/>
                <a:ea typeface="Inter" pitchFamily="34" charset="-122"/>
                <a:cs typeface="Inter" pitchFamily="34" charset="-120"/>
              </a:rPr>
              <a:t>Labor protections remain unclear, especially for outsourced workers. Innovation should not be an excuse to avoid responsibility for human dignity and fairness.</a:t>
            </a:r>
            <a:endParaRPr lang="en-US" sz="900" dirty="0"/>
          </a:p>
        </p:txBody>
      </p:sp>
      <p:sp>
        <p:nvSpPr>
          <p:cNvPr id="12" name="Shape 8"/>
          <p:cNvSpPr/>
          <p:nvPr/>
        </p:nvSpPr>
        <p:spPr>
          <a:xfrm>
            <a:off x="5336381" y="346472"/>
            <a:ext cx="3364706" cy="4555927"/>
          </a:xfrm>
          <a:prstGeom prst="rect">
            <a:avLst/>
          </a:prstGeom>
          <a:solidFill>
            <a:srgbClr val="E11D48">
              <a:alpha val="5000"/>
            </a:srgbClr>
          </a:solidFill>
          <a:ln/>
        </p:spPr>
      </p:sp>
      <p:sp>
        <p:nvSpPr>
          <p:cNvPr id="13" name="Shape 9"/>
          <p:cNvSpPr/>
          <p:nvPr/>
        </p:nvSpPr>
        <p:spPr>
          <a:xfrm>
            <a:off x="5336381" y="346472"/>
            <a:ext cx="7144" cy="4555927"/>
          </a:xfrm>
          <a:prstGeom prst="rect">
            <a:avLst/>
          </a:prstGeom>
          <a:solidFill>
            <a:srgbClr val="333333"/>
          </a:solidFill>
          <a:ln/>
        </p:spPr>
      </p:sp>
      <p:sp>
        <p:nvSpPr>
          <p:cNvPr id="14" name="Text 10"/>
          <p:cNvSpPr/>
          <p:nvPr/>
        </p:nvSpPr>
        <p:spPr>
          <a:xfrm>
            <a:off x="5626429" y="346472"/>
            <a:ext cx="3074659" cy="169999"/>
          </a:xfrm>
          <a:prstGeom prst="rect">
            <a:avLst/>
          </a:prstGeom>
          <a:noFill/>
          <a:ln/>
        </p:spPr>
        <p:txBody>
          <a:bodyPr wrap="none" lIns="0" tIns="0" rIns="0" bIns="0" rtlCol="0" anchor="t">
            <a:spAutoFit/>
          </a:bodyPr>
          <a:lstStyle/>
          <a:p>
            <a:pPr algn="l" indent="0" marL="0">
              <a:lnSpc>
                <a:spcPct val="112000"/>
              </a:lnSpc>
              <a:buNone/>
            </a:pPr>
            <a:r>
              <a:rPr lang="en-US" sz="900" dirty="0">
                <a:solidFill>
                  <a:srgbClr val="E11D48"/>
                </a:solidFill>
                <a:latin typeface="Inter" pitchFamily="34" charset="0"/>
                <a:ea typeface="Inter" pitchFamily="34" charset="-122"/>
                <a:cs typeface="Inter" pitchFamily="34" charset="-120"/>
              </a:rPr>
              <a:t>root@nyc_node:~#</a:t>
            </a:r>
            <a:r>
              <a:rPr lang="en-US" sz="900" dirty="0">
                <a:solidFill>
                  <a:srgbClr val="A1A1AA"/>
                </a:solidFill>
                <a:latin typeface="Inter" pitchFamily="34" charset="0"/>
                <a:ea typeface="Inter" pitchFamily="34" charset="-122"/>
                <a:cs typeface="Inter" pitchFamily="34" charset="-120"/>
              </a:rPr>
              <a:t> ./execute_governance</a:t>
            </a:r>
            <a:endParaRPr lang="en-US" sz="900" dirty="0"/>
          </a:p>
        </p:txBody>
      </p:sp>
      <p:sp>
        <p:nvSpPr>
          <p:cNvPr id="15" name="Shape 11"/>
          <p:cNvSpPr/>
          <p:nvPr/>
        </p:nvSpPr>
        <p:spPr>
          <a:xfrm>
            <a:off x="5626429" y="623627"/>
            <a:ext cx="3074659" cy="900113"/>
          </a:xfrm>
          <a:prstGeom prst="rect">
            <a:avLst/>
          </a:prstGeom>
          <a:solidFill>
            <a:srgbClr val="000000"/>
          </a:solidFill>
          <a:ln w="9144">
            <a:solidFill>
              <a:srgbClr val="E11D48"/>
            </a:solidFill>
            <a:prstDash val="solid"/>
          </a:ln>
        </p:spPr>
      </p:sp>
      <p:sp>
        <p:nvSpPr>
          <p:cNvPr id="16" name="Text 12"/>
          <p:cNvSpPr/>
          <p:nvPr/>
        </p:nvSpPr>
        <p:spPr>
          <a:xfrm>
            <a:off x="5733585" y="730783"/>
            <a:ext cx="2860346" cy="150019"/>
          </a:xfrm>
          <a:prstGeom prst="rect">
            <a:avLst/>
          </a:prstGeom>
          <a:noFill/>
          <a:ln/>
        </p:spPr>
        <p:txBody>
          <a:bodyPr wrap="square" lIns="0" tIns="0" rIns="0" bIns="0" rtlCol="0" anchor="t">
            <a:spAutoFit/>
          </a:bodyPr>
          <a:lstStyle/>
          <a:p>
            <a:pPr algn="l" indent="0" marL="0">
              <a:buNone/>
            </a:pPr>
            <a:r>
              <a:rPr lang="en-US" sz="800" b="1" dirty="0">
                <a:solidFill>
                  <a:srgbClr val="E11D48"/>
                </a:solidFill>
                <a:latin typeface="Roboto Mono Bold" pitchFamily="34" charset="0"/>
                <a:ea typeface="Roboto Mono Bold" pitchFamily="34" charset="-122"/>
                <a:cs typeface="Roboto Mono Bold" pitchFamily="34" charset="-120"/>
              </a:rPr>
              <a:t>FUTURE MANDATE</a:t>
            </a:r>
            <a:endParaRPr lang="en-US" sz="800" dirty="0"/>
          </a:p>
        </p:txBody>
      </p:sp>
      <p:sp>
        <p:nvSpPr>
          <p:cNvPr id="17" name="Text 13"/>
          <p:cNvSpPr/>
          <p:nvPr/>
        </p:nvSpPr>
        <p:spPr>
          <a:xfrm>
            <a:off x="5733585" y="952240"/>
            <a:ext cx="2860346" cy="450056"/>
          </a:xfrm>
          <a:prstGeom prst="rect">
            <a:avLst/>
          </a:prstGeom>
          <a:noFill/>
          <a:ln/>
        </p:spPr>
        <p:txBody>
          <a:bodyPr wrap="square" lIns="0" tIns="0" rIns="0" bIns="0" rtlCol="0" anchor="t">
            <a:spAutoFit/>
          </a:bodyPr>
          <a:lstStyle/>
          <a:p>
            <a:pPr algn="l" indent="0" marL="0">
              <a:lnSpc>
                <a:spcPct val="112000"/>
              </a:lnSpc>
              <a:buNone/>
            </a:pPr>
            <a:r>
              <a:rPr lang="en-US" sz="800" dirty="0">
                <a:solidFill>
                  <a:srgbClr val="A1A1AA"/>
                </a:solidFill>
                <a:latin typeface="Inter" pitchFamily="34" charset="0"/>
                <a:ea typeface="Inter" pitchFamily="34" charset="-122"/>
                <a:cs typeface="Inter" pitchFamily="34" charset="-120"/>
              </a:rPr>
              <a:t>Society needs stronger rules about biometric data, employee monitoring, consent, and worker rights in digital environments.</a:t>
            </a:r>
            <a:endParaRPr lang="en-US" sz="800" dirty="0"/>
          </a:p>
        </p:txBody>
      </p:sp>
      <p:sp>
        <p:nvSpPr>
          <p:cNvPr id="18" name="Text 14"/>
          <p:cNvSpPr/>
          <p:nvPr/>
        </p:nvSpPr>
        <p:spPr>
          <a:xfrm>
            <a:off x="5626429" y="1652327"/>
            <a:ext cx="3074659" cy="880021"/>
          </a:xfrm>
          <a:prstGeom prst="rect">
            <a:avLst/>
          </a:prstGeom>
          <a:noFill/>
          <a:ln/>
        </p:spPr>
        <p:txBody>
          <a:bodyPr wrap="square" lIns="170053" tIns="0" rIns="0" bIns="0" rtlCol="0" anchor="t">
            <a:spAutoFit/>
          </a:bodyPr>
          <a:lstStyle/>
          <a:p>
            <a:pPr algn="l" indent="0" marL="0">
              <a:lnSpc>
                <a:spcPct val="112000"/>
              </a:lnSpc>
              <a:buNone/>
            </a:pPr>
            <a:r>
              <a:rPr lang="en-US" sz="1150" dirty="0">
                <a:solidFill>
                  <a:srgbClr val="E11D48"/>
                </a:solidFill>
                <a:latin typeface="Roboto Mono Bold" pitchFamily="34" charset="0"/>
                <a:ea typeface="Roboto Mono Bold" pitchFamily="34" charset="-122"/>
                <a:cs typeface="Roboto Mono Bold" pitchFamily="34" charset="-120"/>
              </a:rPr>
              <a:t>"The future of work should balance technology with human dignity, privacy, and fairness."</a:t>
            </a:r>
            <a:endParaRPr lang="en-US" sz="1150" dirty="0"/>
          </a:p>
        </p:txBody>
      </p:sp>
      <p:sp>
        <p:nvSpPr>
          <p:cNvPr id="19" name="Text 15"/>
          <p:cNvSpPr/>
          <p:nvPr/>
        </p:nvSpPr>
        <p:spPr>
          <a:xfrm>
            <a:off x="5626429" y="2675223"/>
            <a:ext cx="3074659" cy="260021"/>
          </a:xfrm>
          <a:prstGeom prst="rect">
            <a:avLst/>
          </a:prstGeom>
          <a:noFill/>
          <a:ln/>
        </p:spPr>
        <p:txBody>
          <a:bodyPr wrap="square" lIns="0" tIns="0" rIns="0" bIns="0" rtlCol="0" anchor="t">
            <a:spAutoFit/>
          </a:bodyPr>
          <a:lstStyle/>
          <a:p>
            <a:pPr algn="l" indent="0" marL="0">
              <a:lnSpc>
                <a:spcPct val="112000"/>
              </a:lnSpc>
              <a:buNone/>
            </a:pPr>
            <a:r>
              <a:rPr lang="en-US" sz="650" dirty="0">
                <a:solidFill>
                  <a:srgbClr val="666666"/>
                </a:solidFill>
                <a:latin typeface="Inter" pitchFamily="34" charset="0"/>
                <a:ea typeface="Inter" pitchFamily="34" charset="-122"/>
                <a:cs typeface="Inter" pitchFamily="34" charset="-120"/>
              </a:rPr>
              <a:t>&gt; [SYSTEM_EXIT] SUCCESSFUL</a:t>
            </a:r>
            <a:r>
              <a:rPr lang="en-US" sz="650" dirty="0">
                <a:solidFill>
                  <a:srgbClr val="666666"/>
                </a:solidFill>
                <a:latin typeface="Inter" pitchFamily="34" charset="0"/>
                <a:ea typeface="Inter" pitchFamily="34" charset="-122"/>
                <a:cs typeface="Inter" pitchFamily="34" charset="-120"/>
              </a:rPr>
              <a:t>
</a:t>
            </a:r>
            <a:r>
              <a:rPr lang="en-US" sz="650" dirty="0">
                <a:solidFill>
                  <a:srgbClr val="666666"/>
                </a:solidFill>
                <a:latin typeface="Inter" pitchFamily="34" charset="0"/>
                <a:ea typeface="Inter" pitchFamily="34" charset="-122"/>
                <a:cs typeface="Inter" pitchFamily="34" charset="-120"/>
              </a:rPr>
              <a:t>&gt; [STATUS] HUMAN_DIGNITY_PRIORITIZED</a:t>
            </a:r>
            <a:endParaRPr lang="en-US" sz="650" dirty="0"/>
          </a:p>
        </p:txBody>
      </p:sp>
      <p:sp>
        <p:nvSpPr>
          <p:cNvPr id="20" name="Shape 16"/>
          <p:cNvSpPr/>
          <p:nvPr/>
        </p:nvSpPr>
        <p:spPr>
          <a:xfrm>
            <a:off x="14288" y="4902398"/>
            <a:ext cx="9115425" cy="226814"/>
          </a:xfrm>
          <a:prstGeom prst="rect">
            <a:avLst/>
          </a:prstGeom>
          <a:solidFill>
            <a:srgbClr val="000000">
              <a:alpha val="0"/>
            </a:srgbClr>
          </a:solidFill>
          <a:ln/>
        </p:spPr>
      </p:sp>
      <p:sp>
        <p:nvSpPr>
          <p:cNvPr id="21" name="Shape 17"/>
          <p:cNvSpPr/>
          <p:nvPr/>
        </p:nvSpPr>
        <p:spPr>
          <a:xfrm>
            <a:off x="14288" y="4902398"/>
            <a:ext cx="9115425" cy="7144"/>
          </a:xfrm>
          <a:prstGeom prst="rect">
            <a:avLst/>
          </a:prstGeom>
          <a:solidFill>
            <a:srgbClr val="333333"/>
          </a:solidFill>
          <a:ln/>
        </p:spPr>
      </p:sp>
      <p:sp>
        <p:nvSpPr>
          <p:cNvPr id="22" name="Text 18"/>
          <p:cNvSpPr/>
          <p:nvPr/>
        </p:nvSpPr>
        <p:spPr>
          <a:xfrm>
            <a:off x="14288" y="4902398"/>
            <a:ext cx="9115425" cy="226814"/>
          </a:xfrm>
          <a:prstGeom prst="rect">
            <a:avLst/>
          </a:prstGeom>
          <a:noFill/>
          <a:ln/>
        </p:spPr>
        <p:txBody>
          <a:bodyPr wrap="square" lIns="510286" tIns="127508" rIns="0" bIns="0" rtlCol="0" anchor="t">
            <a:spAutoFit/>
          </a:bodyPr>
          <a:lstStyle/>
          <a:p>
            <a:pPr algn="l" indent="0" marL="0">
              <a:buNone/>
            </a:pPr>
            <a:r>
              <a:rPr lang="en-US" sz="600" dirty="0">
                <a:solidFill>
                  <a:srgbClr val="666666"/>
                </a:solidFill>
                <a:latin typeface="Roboto Mono Bold" pitchFamily="34" charset="0"/>
                <a:ea typeface="Roboto Mono Bold" pitchFamily="34" charset="-122"/>
                <a:cs typeface="Roboto Mono Bold" pitchFamily="34" charset="-120"/>
              </a:rPr>
              <a:t>[SECTION_09] // [FINAL_VERDICT] // [PAGE_10]</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8" y="14288"/>
            <a:ext cx="9115425" cy="189309"/>
          </a:xfrm>
          <a:prstGeom prst="rect">
            <a:avLst/>
          </a:prstGeom>
          <a:solidFill>
            <a:srgbClr val="333333"/>
          </a:solidFill>
          <a:ln/>
        </p:spPr>
      </p:sp>
      <p:sp>
        <p:nvSpPr>
          <p:cNvPr id="5" name="Text 1"/>
          <p:cNvSpPr/>
          <p:nvPr/>
        </p:nvSpPr>
        <p:spPr>
          <a:xfrm>
            <a:off x="157163" y="71438"/>
            <a:ext cx="1214438" cy="132159"/>
          </a:xfrm>
          <a:prstGeom prst="rect">
            <a:avLst/>
          </a:prstGeom>
          <a:noFill/>
          <a:ln/>
        </p:spPr>
        <p:txBody>
          <a:bodyPr wrap="non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FILE: works_cited.db</a:t>
            </a:r>
            <a:endParaRPr lang="en-US" sz="750" dirty="0"/>
          </a:p>
        </p:txBody>
      </p:sp>
      <p:sp>
        <p:nvSpPr>
          <p:cNvPr id="6" name="Text 2"/>
          <p:cNvSpPr/>
          <p:nvPr/>
        </p:nvSpPr>
        <p:spPr>
          <a:xfrm>
            <a:off x="7954566" y="71438"/>
            <a:ext cx="1032272" cy="132159"/>
          </a:xfrm>
          <a:prstGeom prst="rect">
            <a:avLst/>
          </a:prstGeom>
          <a:noFill/>
          <a:ln/>
        </p:spPr>
        <p:txBody>
          <a:bodyPr wrap="none" lIns="0" tIns="0" rIns="0" bIns="0" rtlCol="0" anchor="t">
            <a:spAutoFit/>
          </a:bodyPr>
          <a:lstStyle/>
          <a:p>
            <a:pPr algn="l" indent="0" marL="0">
              <a:buNone/>
            </a:pPr>
            <a:r>
              <a:rPr lang="en-US" sz="750" dirty="0">
                <a:solidFill>
                  <a:srgbClr val="F4F4F5"/>
                </a:solidFill>
                <a:latin typeface="Roboto Mono Bold" pitchFamily="34" charset="0"/>
                <a:ea typeface="Roboto Mono Bold" pitchFamily="34" charset="-122"/>
                <a:cs typeface="Roboto Mono Bold" pitchFamily="34" charset="-120"/>
              </a:rPr>
              <a:t>NODE: NYC_CORE_11</a:t>
            </a:r>
            <a:endParaRPr lang="en-US" sz="750" dirty="0"/>
          </a:p>
        </p:txBody>
      </p:sp>
      <p:sp>
        <p:nvSpPr>
          <p:cNvPr id="7" name="Text 3"/>
          <p:cNvSpPr/>
          <p:nvPr/>
        </p:nvSpPr>
        <p:spPr>
          <a:xfrm>
            <a:off x="442913" y="532209"/>
            <a:ext cx="8258175" cy="150019"/>
          </a:xfrm>
          <a:prstGeom prst="rect">
            <a:avLst/>
          </a:prstGeom>
          <a:noFill/>
          <a:ln/>
        </p:spPr>
        <p:txBody>
          <a:bodyPr wrap="square" lIns="0" tIns="0" rIns="0" bIns="0" rtlCol="0" anchor="t">
            <a:spAutoFit/>
          </a:bodyPr>
          <a:lstStyle/>
          <a:p>
            <a:pPr algn="l" indent="0" marL="0">
              <a:buNone/>
            </a:pPr>
            <a:r>
              <a:rPr lang="en-US" sz="850" dirty="0">
                <a:solidFill>
                  <a:srgbClr val="E11D48"/>
                </a:solidFill>
                <a:latin typeface="Roboto Mono Bold" pitchFamily="34" charset="0"/>
                <a:ea typeface="Roboto Mono Bold" pitchFamily="34" charset="-122"/>
                <a:cs typeface="Roboto Mono Bold" pitchFamily="34" charset="-120"/>
              </a:rPr>
              <a:t>root@nyc_node:~#</a:t>
            </a:r>
            <a:r>
              <a:rPr lang="en-US" sz="850" dirty="0">
                <a:solidFill>
                  <a:srgbClr val="00FF41"/>
                </a:solidFill>
                <a:latin typeface="Roboto Mono Bold" pitchFamily="34" charset="0"/>
                <a:ea typeface="Roboto Mono Bold" pitchFamily="34" charset="-122"/>
                <a:cs typeface="Roboto Mono Bold" pitchFamily="34" charset="-120"/>
              </a:rPr>
              <a:t> cat works_cited.txt</a:t>
            </a:r>
            <a:endParaRPr lang="en-US" sz="850" dirty="0"/>
          </a:p>
        </p:txBody>
      </p:sp>
      <p:sp>
        <p:nvSpPr>
          <p:cNvPr id="8" name="Text 4"/>
          <p:cNvSpPr/>
          <p:nvPr/>
        </p:nvSpPr>
        <p:spPr>
          <a:xfrm>
            <a:off x="442913" y="889397"/>
            <a:ext cx="714375" cy="321469"/>
          </a:xfrm>
          <a:prstGeom prst="rect">
            <a:avLst/>
          </a:prstGeom>
          <a:noFill/>
          <a:ln/>
        </p:spPr>
        <p:txBody>
          <a:bodyPr wrap="none" lIns="0" tIns="0" rIns="0" bIns="0" rtlCol="0" anchor="t">
            <a:spAutoFit/>
          </a:bodyPr>
          <a:lstStyle/>
          <a:p>
            <a:pPr algn="l" indent="0" marL="0">
              <a:buNone/>
            </a:pPr>
            <a:r>
              <a:rPr lang="en-US" sz="750" dirty="0">
                <a:solidFill>
                  <a:srgbClr val="E11D48"/>
                </a:solidFill>
                <a:latin typeface="Roboto Mono Bold" pitchFamily="34" charset="0"/>
                <a:ea typeface="Roboto Mono Bold" pitchFamily="34" charset="-122"/>
                <a:cs typeface="Roboto Mono Bold" pitchFamily="34" charset="-120"/>
              </a:rPr>
              <a:t>[SRC_01]</a:t>
            </a:r>
            <a:endParaRPr lang="en-US" sz="750" dirty="0"/>
          </a:p>
        </p:txBody>
      </p:sp>
      <p:sp>
        <p:nvSpPr>
          <p:cNvPr id="9" name="Text 5"/>
          <p:cNvSpPr/>
          <p:nvPr/>
        </p:nvSpPr>
        <p:spPr>
          <a:xfrm>
            <a:off x="1157288" y="889397"/>
            <a:ext cx="7543800" cy="321469"/>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A1A1AA"/>
                </a:solidFill>
                <a:latin typeface="Inter" pitchFamily="34" charset="0"/>
                <a:ea typeface="Inter" pitchFamily="34" charset="-122"/>
                <a:cs typeface="Inter" pitchFamily="34" charset="-120"/>
              </a:rPr>
              <a:t>Anthony, Tristan. </a:t>
            </a:r>
            <a:r>
              <a:rPr lang="en-US" sz="800" dirty="0">
                <a:solidFill>
                  <a:srgbClr val="F4F4F5"/>
                </a:solidFill>
                <a:latin typeface="Inter" pitchFamily="34" charset="0"/>
                <a:ea typeface="Inter" pitchFamily="34" charset="-122"/>
                <a:cs typeface="Inter" pitchFamily="34" charset="-120"/>
              </a:rPr>
              <a:t>Meta is closing its VR workplace app amid Reality Labs layoffs.</a:t>
            </a:r>
            <a:r>
              <a:rPr lang="en-US" sz="800" dirty="0">
                <a:solidFill>
                  <a:srgbClr val="A1A1AA"/>
                </a:solidFill>
                <a:latin typeface="Inter" pitchFamily="34" charset="0"/>
                <a:ea typeface="Inter" pitchFamily="34" charset="-122"/>
                <a:cs typeface="Inter" pitchFamily="34" charset="-120"/>
              </a:rPr>
              <a:t> 16 Jan 2026. 30 April 2026. </a:t>
            </a:r>
            <a:r>
              <a:rPr lang="en-US" sz="800" dirty="0">
                <a:solidFill>
                  <a:srgbClr val="A1A1AA"/>
                </a:solidFill>
                <a:latin typeface="Inter" pitchFamily="34" charset="0"/>
                <a:ea typeface="Inter" pitchFamily="34" charset="-122"/>
                <a:cs typeface="Inter" pitchFamily="34" charset="-120"/>
              </a:rPr>
              <a:t>&lt;https://www.businessinsider.com/meta-closing-vr-horizon-workplace-app-reality-labs-layoffs-2026-1&gt;.</a:t>
            </a:r>
            <a:endParaRPr lang="en-US" sz="800" dirty="0"/>
          </a:p>
        </p:txBody>
      </p:sp>
      <p:sp>
        <p:nvSpPr>
          <p:cNvPr id="10" name="Text 6"/>
          <p:cNvSpPr/>
          <p:nvPr/>
        </p:nvSpPr>
        <p:spPr>
          <a:xfrm>
            <a:off x="442913" y="1389459"/>
            <a:ext cx="714375" cy="321469"/>
          </a:xfrm>
          <a:prstGeom prst="rect">
            <a:avLst/>
          </a:prstGeom>
          <a:noFill/>
          <a:ln/>
        </p:spPr>
        <p:txBody>
          <a:bodyPr wrap="none" lIns="0" tIns="0" rIns="0" bIns="0" rtlCol="0" anchor="t">
            <a:spAutoFit/>
          </a:bodyPr>
          <a:lstStyle/>
          <a:p>
            <a:pPr algn="l" indent="0" marL="0">
              <a:buNone/>
            </a:pPr>
            <a:r>
              <a:rPr lang="en-US" sz="750" dirty="0">
                <a:solidFill>
                  <a:srgbClr val="E11D48"/>
                </a:solidFill>
                <a:latin typeface="Roboto Mono Bold" pitchFamily="34" charset="0"/>
                <a:ea typeface="Roboto Mono Bold" pitchFamily="34" charset="-122"/>
                <a:cs typeface="Roboto Mono Bold" pitchFamily="34" charset="-120"/>
              </a:rPr>
              <a:t>[SRC_02]</a:t>
            </a:r>
            <a:endParaRPr lang="en-US" sz="750" dirty="0"/>
          </a:p>
        </p:txBody>
      </p:sp>
      <p:sp>
        <p:nvSpPr>
          <p:cNvPr id="11" name="Text 7"/>
          <p:cNvSpPr/>
          <p:nvPr/>
        </p:nvSpPr>
        <p:spPr>
          <a:xfrm>
            <a:off x="1157288" y="1389459"/>
            <a:ext cx="7543800" cy="321469"/>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A1A1AA"/>
                </a:solidFill>
                <a:latin typeface="Inter" pitchFamily="34" charset="0"/>
                <a:ea typeface="Inter" pitchFamily="34" charset="-122"/>
                <a:cs typeface="Inter" pitchFamily="34" charset="-120"/>
              </a:rPr>
              <a:t>Daniel Berrick, Jameson Spivack. </a:t>
            </a:r>
            <a:r>
              <a:rPr lang="en-US" sz="800" dirty="0">
                <a:solidFill>
                  <a:srgbClr val="F4F4F5"/>
                </a:solidFill>
                <a:latin typeface="Inter" pitchFamily="34" charset="0"/>
                <a:ea typeface="Inter" pitchFamily="34" charset="-122"/>
                <a:cs typeface="Inter" pitchFamily="34" charset="-120"/>
              </a:rPr>
              <a:t>Unpacking the Privacy Implications of Extended Reality.</a:t>
            </a:r>
            <a:r>
              <a:rPr lang="en-US" sz="800" dirty="0">
                <a:solidFill>
                  <a:srgbClr val="A1A1AA"/>
                </a:solidFill>
                <a:latin typeface="Inter" pitchFamily="34" charset="0"/>
                <a:ea typeface="Inter" pitchFamily="34" charset="-122"/>
                <a:cs typeface="Inter" pitchFamily="34" charset="-120"/>
              </a:rPr>
              <a:t> 4 April 2023. 30 April 2026. </a:t>
            </a:r>
            <a:r>
              <a:rPr lang="en-US" sz="800" dirty="0">
                <a:solidFill>
                  <a:srgbClr val="A1A1AA"/>
                </a:solidFill>
                <a:latin typeface="Inter" pitchFamily="34" charset="0"/>
                <a:ea typeface="Inter" pitchFamily="34" charset="-122"/>
                <a:cs typeface="Inter" pitchFamily="34" charset="-120"/>
              </a:rPr>
              <a:t>&lt;https://www.techpolicy.press/unpacking-the-privacy-implications-of-extended-reality/&gt;.</a:t>
            </a:r>
            <a:endParaRPr lang="en-US" sz="800" dirty="0"/>
          </a:p>
        </p:txBody>
      </p:sp>
      <p:sp>
        <p:nvSpPr>
          <p:cNvPr id="12" name="Text 8"/>
          <p:cNvSpPr/>
          <p:nvPr/>
        </p:nvSpPr>
        <p:spPr>
          <a:xfrm>
            <a:off x="442913" y="1889522"/>
            <a:ext cx="714375" cy="321469"/>
          </a:xfrm>
          <a:prstGeom prst="rect">
            <a:avLst/>
          </a:prstGeom>
          <a:noFill/>
          <a:ln/>
        </p:spPr>
        <p:txBody>
          <a:bodyPr wrap="none" lIns="0" tIns="0" rIns="0" bIns="0" rtlCol="0" anchor="t">
            <a:spAutoFit/>
          </a:bodyPr>
          <a:lstStyle/>
          <a:p>
            <a:pPr algn="l" indent="0" marL="0">
              <a:buNone/>
            </a:pPr>
            <a:r>
              <a:rPr lang="en-US" sz="750" dirty="0">
                <a:solidFill>
                  <a:srgbClr val="E11D48"/>
                </a:solidFill>
                <a:latin typeface="Roboto Mono Bold" pitchFamily="34" charset="0"/>
                <a:ea typeface="Roboto Mono Bold" pitchFamily="34" charset="-122"/>
                <a:cs typeface="Roboto Mono Bold" pitchFamily="34" charset="-120"/>
              </a:rPr>
              <a:t>[SRC_03]</a:t>
            </a:r>
            <a:endParaRPr lang="en-US" sz="750" dirty="0"/>
          </a:p>
        </p:txBody>
      </p:sp>
      <p:sp>
        <p:nvSpPr>
          <p:cNvPr id="13" name="Text 9"/>
          <p:cNvSpPr/>
          <p:nvPr/>
        </p:nvSpPr>
        <p:spPr>
          <a:xfrm>
            <a:off x="1157288" y="1889522"/>
            <a:ext cx="7543800" cy="321469"/>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A1A1AA"/>
                </a:solidFill>
                <a:latin typeface="Inter" pitchFamily="34" charset="0"/>
                <a:ea typeface="Inter" pitchFamily="34" charset="-122"/>
                <a:cs typeface="Inter" pitchFamily="34" charset="-120"/>
              </a:rPr>
              <a:t>Jang, Eric. </a:t>
            </a:r>
            <a:r>
              <a:rPr lang="en-US" sz="800" dirty="0">
                <a:solidFill>
                  <a:srgbClr val="F4F4F5"/>
                </a:solidFill>
                <a:latin typeface="Inter" pitchFamily="34" charset="0"/>
                <a:ea typeface="Inter" pitchFamily="34" charset="-122"/>
                <a:cs typeface="Inter" pitchFamily="34" charset="-120"/>
              </a:rPr>
              <a:t>Ready Employee One: Data Privacy Within the Metaverse.</a:t>
            </a:r>
            <a:r>
              <a:rPr lang="en-US" sz="800" dirty="0">
                <a:solidFill>
                  <a:srgbClr val="A1A1AA"/>
                </a:solidFill>
                <a:latin typeface="Inter" pitchFamily="34" charset="0"/>
                <a:ea typeface="Inter" pitchFamily="34" charset="-122"/>
                <a:cs typeface="Inter" pitchFamily="34" charset="-120"/>
              </a:rPr>
              <a:t> 24 June 2022. 30 April 2026. &lt;https://onlabor.org/ready-employee-one-data-</a:t>
            </a:r>
            <a:r>
              <a:rPr lang="en-US" sz="800" dirty="0">
                <a:solidFill>
                  <a:srgbClr val="A1A1AA"/>
                </a:solidFill>
                <a:latin typeface="Inter" pitchFamily="34" charset="0"/>
                <a:ea typeface="Inter" pitchFamily="34" charset="-122"/>
                <a:cs typeface="Inter" pitchFamily="34" charset="-120"/>
              </a:rPr>
              <a:t>privacy-within-the-metaverse/&gt;.</a:t>
            </a:r>
            <a:endParaRPr lang="en-US" sz="800" dirty="0"/>
          </a:p>
        </p:txBody>
      </p:sp>
      <p:sp>
        <p:nvSpPr>
          <p:cNvPr id="14" name="Text 10"/>
          <p:cNvSpPr/>
          <p:nvPr/>
        </p:nvSpPr>
        <p:spPr>
          <a:xfrm>
            <a:off x="442913" y="2389584"/>
            <a:ext cx="714375" cy="321469"/>
          </a:xfrm>
          <a:prstGeom prst="rect">
            <a:avLst/>
          </a:prstGeom>
          <a:noFill/>
          <a:ln/>
        </p:spPr>
        <p:txBody>
          <a:bodyPr wrap="none" lIns="0" tIns="0" rIns="0" bIns="0" rtlCol="0" anchor="t">
            <a:spAutoFit/>
          </a:bodyPr>
          <a:lstStyle/>
          <a:p>
            <a:pPr algn="l" indent="0" marL="0">
              <a:buNone/>
            </a:pPr>
            <a:r>
              <a:rPr lang="en-US" sz="750" dirty="0">
                <a:solidFill>
                  <a:srgbClr val="E11D48"/>
                </a:solidFill>
                <a:latin typeface="Roboto Mono Bold" pitchFamily="34" charset="0"/>
                <a:ea typeface="Roboto Mono Bold" pitchFamily="34" charset="-122"/>
                <a:cs typeface="Roboto Mono Bold" pitchFamily="34" charset="-120"/>
              </a:rPr>
              <a:t>[SRC_04]</a:t>
            </a:r>
            <a:endParaRPr lang="en-US" sz="750" dirty="0"/>
          </a:p>
        </p:txBody>
      </p:sp>
      <p:sp>
        <p:nvSpPr>
          <p:cNvPr id="15" name="Text 11"/>
          <p:cNvSpPr/>
          <p:nvPr/>
        </p:nvSpPr>
        <p:spPr>
          <a:xfrm>
            <a:off x="1157288" y="2389584"/>
            <a:ext cx="7543800" cy="321469"/>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A1A1AA"/>
                </a:solidFill>
                <a:latin typeface="Inter" pitchFamily="34" charset="0"/>
                <a:ea typeface="Inter" pitchFamily="34" charset="-122"/>
                <a:cs typeface="Inter" pitchFamily="34" charset="-120"/>
              </a:rPr>
              <a:t>Ray, Jody. </a:t>
            </a:r>
            <a:r>
              <a:rPr lang="en-US" sz="800" dirty="0">
                <a:solidFill>
                  <a:srgbClr val="F4F4F5"/>
                </a:solidFill>
                <a:latin typeface="Inter" pitchFamily="34" charset="0"/>
                <a:ea typeface="Inter" pitchFamily="34" charset="-122"/>
                <a:cs typeface="Inter" pitchFamily="34" charset="-120"/>
              </a:rPr>
              <a:t>Kenyan Courts Keep Telling Meta to Let Workers Unionize.</a:t>
            </a:r>
            <a:r>
              <a:rPr lang="en-US" sz="800" dirty="0">
                <a:solidFill>
                  <a:srgbClr val="A1A1AA"/>
                </a:solidFill>
                <a:latin typeface="Inter" pitchFamily="34" charset="0"/>
                <a:ea typeface="Inter" pitchFamily="34" charset="-122"/>
                <a:cs typeface="Inter" pitchFamily="34" charset="-120"/>
              </a:rPr>
              <a:t> 14 February 2024. 30 April 2026. &lt;https://jacobin.com/2024/02/kenya-</a:t>
            </a:r>
            <a:r>
              <a:rPr lang="en-US" sz="800" dirty="0">
                <a:solidFill>
                  <a:srgbClr val="A1A1AA"/>
                </a:solidFill>
                <a:latin typeface="Inter" pitchFamily="34" charset="0"/>
                <a:ea typeface="Inter" pitchFamily="34" charset="-122"/>
                <a:cs typeface="Inter" pitchFamily="34" charset="-120"/>
              </a:rPr>
              <a:t>courts-meta-content-moderation-union&gt;.</a:t>
            </a:r>
            <a:endParaRPr lang="en-US" sz="800" dirty="0"/>
          </a:p>
        </p:txBody>
      </p:sp>
      <p:sp>
        <p:nvSpPr>
          <p:cNvPr id="16" name="Text 12"/>
          <p:cNvSpPr/>
          <p:nvPr/>
        </p:nvSpPr>
        <p:spPr>
          <a:xfrm>
            <a:off x="442913" y="2925366"/>
            <a:ext cx="8258175" cy="342900"/>
          </a:xfrm>
          <a:prstGeom prst="rect">
            <a:avLst/>
          </a:prstGeom>
          <a:noFill/>
          <a:ln/>
        </p:spPr>
        <p:txBody>
          <a:bodyPr wrap="square" lIns="0" tIns="85090" rIns="0" bIns="0" rtlCol="0" anchor="t">
            <a:spAutoFit/>
          </a:bodyPr>
          <a:lstStyle/>
          <a:p>
            <a:pPr algn="l" indent="0" marL="0">
              <a:buNone/>
            </a:pPr>
            <a:r>
              <a:rPr lang="en-US" sz="750" dirty="0">
                <a:solidFill>
                  <a:srgbClr val="00FF41"/>
                </a:solidFill>
                <a:latin typeface="Roboto Mono Bold" pitchFamily="34" charset="0"/>
                <a:ea typeface="Roboto Mono Bold" pitchFamily="34" charset="-122"/>
                <a:cs typeface="Roboto Mono Bold" pitchFamily="34" charset="-120"/>
              </a:rPr>
              <a:t>&gt; [ARCHIVE] STATUS_COMPLETE</a:t>
            </a:r>
            <a:r>
              <a:rPr lang="en-US" sz="750" dirty="0">
                <a:solidFill>
                  <a:srgbClr val="00FF41"/>
                </a:solidFill>
                <a:latin typeface="Roboto Mono Bold" pitchFamily="34" charset="0"/>
                <a:ea typeface="Roboto Mono Bold" pitchFamily="34" charset="-122"/>
                <a:cs typeface="Roboto Mono Bold" pitchFamily="34" charset="-120"/>
              </a:rPr>
              <a:t>
</a:t>
            </a:r>
            <a:r>
              <a:rPr lang="en-US" sz="750" dirty="0">
                <a:solidFill>
                  <a:srgbClr val="00FF41"/>
                </a:solidFill>
                <a:latin typeface="Roboto Mono Bold" pitchFamily="34" charset="0"/>
                <a:ea typeface="Roboto Mono Bold" pitchFamily="34" charset="-122"/>
                <a:cs typeface="Roboto Mono Bold" pitchFamily="34" charset="-120"/>
              </a:rPr>
              <a:t>&gt; [VERIFICATION] ALL_SOURCES_VALIDATED</a:t>
            </a:r>
            <a:endParaRPr lang="en-US" sz="750" dirty="0"/>
          </a:p>
        </p:txBody>
      </p:sp>
      <p:sp>
        <p:nvSpPr>
          <p:cNvPr id="17" name="Shape 13"/>
          <p:cNvSpPr/>
          <p:nvPr/>
        </p:nvSpPr>
        <p:spPr>
          <a:xfrm>
            <a:off x="14288" y="4902398"/>
            <a:ext cx="9115425" cy="226814"/>
          </a:xfrm>
          <a:prstGeom prst="rect">
            <a:avLst/>
          </a:prstGeom>
          <a:solidFill>
            <a:srgbClr val="000000">
              <a:alpha val="0"/>
            </a:srgbClr>
          </a:solidFill>
          <a:ln/>
        </p:spPr>
      </p:sp>
      <p:sp>
        <p:nvSpPr>
          <p:cNvPr id="18" name="Shape 14"/>
          <p:cNvSpPr/>
          <p:nvPr/>
        </p:nvSpPr>
        <p:spPr>
          <a:xfrm>
            <a:off x="14288" y="4902398"/>
            <a:ext cx="9115425" cy="7144"/>
          </a:xfrm>
          <a:prstGeom prst="rect">
            <a:avLst/>
          </a:prstGeom>
          <a:solidFill>
            <a:srgbClr val="333333"/>
          </a:solidFill>
          <a:ln/>
        </p:spPr>
      </p:sp>
      <p:sp>
        <p:nvSpPr>
          <p:cNvPr id="19" name="Text 15"/>
          <p:cNvSpPr/>
          <p:nvPr/>
        </p:nvSpPr>
        <p:spPr>
          <a:xfrm>
            <a:off x="14288" y="4902398"/>
            <a:ext cx="9115425" cy="226814"/>
          </a:xfrm>
          <a:prstGeom prst="rect">
            <a:avLst/>
          </a:prstGeom>
          <a:noFill/>
          <a:ln/>
        </p:spPr>
        <p:txBody>
          <a:bodyPr wrap="square" lIns="510286" tIns="127508" rIns="0" bIns="0" rtlCol="0" anchor="t">
            <a:spAutoFit/>
          </a:bodyPr>
          <a:lstStyle/>
          <a:p>
            <a:pPr algn="l" indent="0" marL="0">
              <a:buNone/>
            </a:pPr>
            <a:r>
              <a:rPr lang="en-US" sz="600" dirty="0">
                <a:solidFill>
                  <a:srgbClr val="666666"/>
                </a:solidFill>
                <a:latin typeface="Roboto Mono Bold" pitchFamily="34" charset="0"/>
                <a:ea typeface="Roboto Mono Bold" pitchFamily="34" charset="-122"/>
                <a:cs typeface="Roboto Mono Bold" pitchFamily="34" charset="-120"/>
              </a:rPr>
              <a:t>[SECTION_10] // [WORKS_CITED] // [PAGE_11]</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745879" y="993204"/>
            <a:ext cx="3652242" cy="3157091"/>
          </a:xfrm>
          <a:prstGeom prst="rect">
            <a:avLst/>
          </a:prstGeom>
          <a:solidFill>
            <a:srgbClr val="0A0A0A">
              <a:alpha val="90000"/>
            </a:srgbClr>
          </a:solidFill>
          <a:ln w="9144">
            <a:solidFill>
              <a:srgbClr val="00FF41"/>
            </a:solidFill>
            <a:prstDash val="solid"/>
          </a:ln>
        </p:spPr>
      </p:sp>
      <p:sp>
        <p:nvSpPr>
          <p:cNvPr id="5" name="Text 1"/>
          <p:cNvSpPr/>
          <p:nvPr/>
        </p:nvSpPr>
        <p:spPr>
          <a:xfrm>
            <a:off x="3181648" y="1286098"/>
            <a:ext cx="2780705" cy="678656"/>
          </a:xfrm>
          <a:prstGeom prst="rect">
            <a:avLst/>
          </a:prstGeom>
          <a:noFill/>
          <a:ln/>
        </p:spPr>
        <p:txBody>
          <a:bodyPr wrap="square" lIns="0" tIns="0" rIns="0" bIns="0" rtlCol="0" anchor="t">
            <a:spAutoFit/>
          </a:bodyPr>
          <a:lstStyle/>
          <a:p>
            <a:pPr algn="ctr" indent="0" marL="0">
              <a:buNone/>
            </a:pPr>
            <a:r>
              <a:rPr lang="en-US" sz="3750" b="1" dirty="0">
                <a:solidFill>
                  <a:srgbClr val="E11D48"/>
                </a:solidFill>
                <a:latin typeface="Roboto Mono Bold" pitchFamily="34" charset="0"/>
                <a:ea typeface="Roboto Mono Bold" pitchFamily="34" charset="-122"/>
                <a:cs typeface="Roboto Mono Bold" pitchFamily="34" charset="-120"/>
              </a:rPr>
              <a:t>THANK YOU</a:t>
            </a:r>
            <a:endParaRPr lang="en-US" sz="3750" dirty="0"/>
          </a:p>
        </p:txBody>
      </p:sp>
      <p:sp>
        <p:nvSpPr>
          <p:cNvPr id="6" name="Text 2"/>
          <p:cNvSpPr/>
          <p:nvPr/>
        </p:nvSpPr>
        <p:spPr>
          <a:xfrm>
            <a:off x="3181648" y="2036192"/>
            <a:ext cx="2780705" cy="262533"/>
          </a:xfrm>
          <a:prstGeom prst="rect">
            <a:avLst/>
          </a:prstGeom>
          <a:noFill/>
          <a:ln/>
        </p:spPr>
        <p:txBody>
          <a:bodyPr wrap="square" lIns="0" tIns="0" rIns="0" bIns="0" rtlCol="0" anchor="t">
            <a:spAutoFit/>
          </a:bodyPr>
          <a:lstStyle/>
          <a:p>
            <a:pPr algn="ctr" indent="0" marL="0">
              <a:buNone/>
            </a:pPr>
            <a:r>
              <a:rPr lang="en-US" sz="1500" dirty="0">
                <a:solidFill>
                  <a:srgbClr val="F4F4F5"/>
                </a:solidFill>
                <a:latin typeface="Roboto Mono Bold" pitchFamily="34" charset="0"/>
                <a:ea typeface="Roboto Mono Bold" pitchFamily="34" charset="-122"/>
                <a:cs typeface="Roboto Mono Bold" pitchFamily="34" charset="-120"/>
              </a:rPr>
              <a:t>Questions &amp; Discussion</a:t>
            </a:r>
            <a:endParaRPr lang="en-US" sz="1500" dirty="0"/>
          </a:p>
        </p:txBody>
      </p:sp>
      <p:sp>
        <p:nvSpPr>
          <p:cNvPr id="7" name="Text 3"/>
          <p:cNvSpPr/>
          <p:nvPr/>
        </p:nvSpPr>
        <p:spPr>
          <a:xfrm>
            <a:off x="3181648" y="2791644"/>
            <a:ext cx="2780705" cy="205718"/>
          </a:xfrm>
          <a:prstGeom prst="rect">
            <a:avLst/>
          </a:prstGeom>
          <a:noFill/>
          <a:ln/>
        </p:spPr>
        <p:txBody>
          <a:bodyPr wrap="none" lIns="0" tIns="0" rIns="0" bIns="0" rtlCol="0" anchor="t">
            <a:spAutoFit/>
          </a:bodyPr>
          <a:lstStyle/>
          <a:p>
            <a:pPr algn="ctr" indent="0" marL="0">
              <a:lnSpc>
                <a:spcPct val="128000"/>
              </a:lnSpc>
              <a:buNone/>
            </a:pPr>
            <a:r>
              <a:rPr lang="en-US" sz="900" b="1" dirty="0">
                <a:solidFill>
                  <a:srgbClr val="F4F4F5"/>
                </a:solidFill>
                <a:latin typeface="Roboto Mono Bold" pitchFamily="34" charset="0"/>
                <a:ea typeface="Roboto Mono Bold" pitchFamily="34" charset="-122"/>
                <a:cs typeface="Roboto Mono Bold" pitchFamily="34" charset="-120"/>
              </a:rPr>
              <a:t>USER:</a:t>
            </a:r>
            <a:r>
              <a:rPr lang="en-US" sz="950" dirty="0">
                <a:solidFill>
                  <a:srgbClr val="00FF41"/>
                </a:solidFill>
                <a:latin typeface="Roboto Mono Bold" pitchFamily="34" charset="0"/>
                <a:ea typeface="Roboto Mono Bold" pitchFamily="34" charset="-122"/>
                <a:cs typeface="Roboto Mono Bold" pitchFamily="34" charset="-120"/>
              </a:rPr>
              <a:t> Luis Couttolenc</a:t>
            </a:r>
            <a:endParaRPr lang="en-US" sz="900" dirty="0"/>
          </a:p>
        </p:txBody>
      </p:sp>
      <p:sp>
        <p:nvSpPr>
          <p:cNvPr id="8" name="Text 4"/>
          <p:cNvSpPr/>
          <p:nvPr/>
        </p:nvSpPr>
        <p:spPr>
          <a:xfrm>
            <a:off x="3181648" y="3125949"/>
            <a:ext cx="2780705" cy="205718"/>
          </a:xfrm>
          <a:prstGeom prst="rect">
            <a:avLst/>
          </a:prstGeom>
          <a:noFill/>
          <a:ln/>
        </p:spPr>
        <p:txBody>
          <a:bodyPr wrap="none" lIns="0" tIns="0" rIns="0" bIns="0" rtlCol="0" anchor="t">
            <a:spAutoFit/>
          </a:bodyPr>
          <a:lstStyle/>
          <a:p>
            <a:pPr algn="ctr" indent="0" marL="0">
              <a:lnSpc>
                <a:spcPct val="128000"/>
              </a:lnSpc>
              <a:buNone/>
            </a:pPr>
            <a:r>
              <a:rPr lang="en-US" sz="900" b="1" dirty="0">
                <a:solidFill>
                  <a:srgbClr val="F4F4F5"/>
                </a:solidFill>
                <a:latin typeface="Roboto Mono Bold" pitchFamily="34" charset="0"/>
                <a:ea typeface="Roboto Mono Bold" pitchFamily="34" charset="-122"/>
                <a:cs typeface="Roboto Mono Bold" pitchFamily="34" charset="-120"/>
              </a:rPr>
              <a:t>MAIL:</a:t>
            </a:r>
            <a:r>
              <a:rPr lang="en-US" sz="950" dirty="0">
                <a:solidFill>
                  <a:srgbClr val="00FF41"/>
                </a:solidFill>
                <a:latin typeface="Roboto Mono Bold" pitchFamily="34" charset="0"/>
                <a:ea typeface="Roboto Mono Bold" pitchFamily="34" charset="-122"/>
                <a:cs typeface="Roboto Mono Bold" pitchFamily="34" charset="-120"/>
              </a:rPr>
              <a:t> couttolen@hartford.edu</a:t>
            </a:r>
            <a:endParaRPr lang="en-US" sz="900" dirty="0"/>
          </a:p>
        </p:txBody>
      </p:sp>
      <p:sp>
        <p:nvSpPr>
          <p:cNvPr id="9" name="Text 5"/>
          <p:cNvSpPr/>
          <p:nvPr/>
        </p:nvSpPr>
        <p:spPr>
          <a:xfrm>
            <a:off x="3181648" y="3474541"/>
            <a:ext cx="2780705" cy="205718"/>
          </a:xfrm>
          <a:prstGeom prst="rect">
            <a:avLst/>
          </a:prstGeom>
          <a:noFill/>
          <a:ln/>
        </p:spPr>
        <p:txBody>
          <a:bodyPr wrap="none" lIns="0" tIns="0" rIns="0" bIns="0" rtlCol="0" anchor="t">
            <a:spAutoFit/>
          </a:bodyPr>
          <a:lstStyle/>
          <a:p>
            <a:pPr algn="ctr" indent="0" marL="0">
              <a:lnSpc>
                <a:spcPct val="128000"/>
              </a:lnSpc>
              <a:buNone/>
            </a:pPr>
            <a:r>
              <a:rPr lang="en-US" sz="950" dirty="0">
                <a:solidFill>
                  <a:srgbClr val="E11D48"/>
                </a:solidFill>
                <a:latin typeface="Roboto Mono Bold" pitchFamily="34" charset="0"/>
                <a:ea typeface="Roboto Mono Bold" pitchFamily="34" charset="-122"/>
                <a:cs typeface="Roboto Mono Bold" pitchFamily="34" charset="-120"/>
              </a:rPr>
              <a:t>root@nyc_node:~#</a:t>
            </a:r>
            <a:r>
              <a:rPr lang="en-US" sz="950" dirty="0">
                <a:solidFill>
                  <a:srgbClr val="00FF41"/>
                </a:solidFill>
                <a:latin typeface="Roboto Mono Bold" pitchFamily="34" charset="0"/>
                <a:ea typeface="Roboto Mono Bold" pitchFamily="34" charset="-122"/>
                <a:cs typeface="Roboto Mono Bold" pitchFamily="34" charset="-120"/>
              </a:rPr>
              <a:t> logout</a:t>
            </a:r>
            <a:endParaRPr lang="en-US" sz="950" dirty="0"/>
          </a:p>
        </p:txBody>
      </p:sp>
      <p:sp>
        <p:nvSpPr>
          <p:cNvPr id="10" name="Text 6"/>
          <p:cNvSpPr/>
          <p:nvPr/>
        </p:nvSpPr>
        <p:spPr>
          <a:xfrm>
            <a:off x="3181648" y="3808847"/>
            <a:ext cx="2780705" cy="205718"/>
          </a:xfrm>
          <a:prstGeom prst="rect">
            <a:avLst/>
          </a:prstGeom>
          <a:noFill/>
          <a:ln/>
        </p:spPr>
        <p:txBody>
          <a:bodyPr wrap="none" lIns="0" tIns="0" rIns="0" bIns="0" rtlCol="0" anchor="t">
            <a:spAutoFit/>
          </a:bodyPr>
          <a:lstStyle/>
          <a:p>
            <a:pPr algn="ctr" indent="0" marL="0">
              <a:lnSpc>
                <a:spcPct val="128000"/>
              </a:lnSpc>
              <a:buNone/>
            </a:pPr>
            <a:r>
              <a:rPr lang="en-US" sz="950" dirty="0">
                <a:solidFill>
                  <a:srgbClr val="E11D48"/>
                </a:solidFill>
                <a:latin typeface="Roboto Mono Bold" pitchFamily="34" charset="0"/>
                <a:ea typeface="Roboto Mono Bold" pitchFamily="34" charset="-122"/>
                <a:cs typeface="Roboto Mono Bold" pitchFamily="34" charset="-120"/>
              </a:rPr>
              <a:t>&gt; [SESSION_TERMINATED] 2026.04.27</a:t>
            </a:r>
            <a:endParaRPr lang="en-US" sz="950" dirty="0"/>
          </a:p>
        </p:txBody>
      </p:sp>
      <p:sp>
        <p:nvSpPr>
          <p:cNvPr id="11" name="Text 7"/>
          <p:cNvSpPr/>
          <p:nvPr/>
        </p:nvSpPr>
        <p:spPr>
          <a:xfrm>
            <a:off x="6704409" y="4697016"/>
            <a:ext cx="2125266" cy="132159"/>
          </a:xfrm>
          <a:prstGeom prst="rect">
            <a:avLst/>
          </a:prstGeom>
          <a:noFill/>
          <a:ln/>
        </p:spPr>
        <p:txBody>
          <a:bodyPr wrap="square" lIns="0" tIns="0" rIns="0" bIns="0" rtlCol="0" anchor="t">
            <a:spAutoFit/>
          </a:bodyPr>
          <a:lstStyle/>
          <a:p>
            <a:pPr algn="l" indent="0" marL="0">
              <a:buNone/>
            </a:pPr>
            <a:r>
              <a:rPr lang="en-US" sz="750" dirty="0">
                <a:solidFill>
                  <a:srgbClr val="666666"/>
                </a:solidFill>
                <a:latin typeface="Roboto Mono Bold" pitchFamily="34" charset="0"/>
                <a:ea typeface="Roboto Mono Bold" pitchFamily="34" charset="-122"/>
                <a:cs typeface="Roboto Mono Bold" pitchFamily="34" charset="-120"/>
              </a:rPr>
              <a:t>SYSTEM_STATUS: OFFLINE // LOG_SAVED</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2026-04-30T15:05:03Z</dcterms:created>
  <dcterms:modified xsi:type="dcterms:W3CDTF">2026-04-30T15:05:03Z</dcterms:modified>
</cp:coreProperties>
</file>